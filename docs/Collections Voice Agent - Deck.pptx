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48840"/>
            <a:ext cx="10332720" cy="914400"/>
          </a:xfrm>
          <a:prstGeom prst="rect">
            <a:avLst/>
          </a:prstGeom>
          <a:noFill/>
        </p:spPr>
        <p:txBody>
          <a:bodyPr wrap="square" lIns="0" rIns="0" tIns="0" bIns="0">
            <a:spAutoFit/>
          </a:bodyPr>
          <a:lstStyle/>
          <a:p>
            <a:pPr algn="l">
              <a:lnSpc>
                <a:spcPct val="100000"/>
              </a:lnSpc>
            </a:pPr>
            <a:r>
              <a:rPr sz="4600" b="1">
                <a:solidFill>
                  <a:srgbClr val="FFFFFF"/>
                </a:solidFill>
                <a:latin typeface="Calibri"/>
              </a:rPr>
              <a:t>Collections Voice Agent</a:t>
            </a:r>
          </a:p>
        </p:txBody>
      </p:sp>
      <p:sp>
        <p:nvSpPr>
          <p:cNvPr id="4" name="TextBox 3"/>
          <p:cNvSpPr txBox="1"/>
          <p:nvPr/>
        </p:nvSpPr>
        <p:spPr>
          <a:xfrm>
            <a:off x="914400" y="3154680"/>
            <a:ext cx="10332720" cy="457200"/>
          </a:xfrm>
          <a:prstGeom prst="rect">
            <a:avLst/>
          </a:prstGeom>
          <a:noFill/>
        </p:spPr>
        <p:txBody>
          <a:bodyPr wrap="square" lIns="0" rIns="0" tIns="0" bIns="0">
            <a:spAutoFit/>
          </a:bodyPr>
          <a:lstStyle/>
          <a:p>
            <a:pPr algn="l">
              <a:lnSpc>
                <a:spcPct val="100000"/>
              </a:lnSpc>
            </a:pPr>
            <a:r>
              <a:rPr sz="1900" b="0">
                <a:solidFill>
                  <a:srgbClr val="9FC0E8"/>
                </a:solidFill>
                <a:latin typeface="Calibri"/>
              </a:rPr>
              <a:t>Multilingual outbound EMI collections, built on Sarvam AI</a:t>
            </a:r>
          </a:p>
        </p:txBody>
      </p:sp>
      <p:sp>
        <p:nvSpPr>
          <p:cNvPr id="5" name="Rectangle 4"/>
          <p:cNvSpPr/>
          <p:nvPr/>
        </p:nvSpPr>
        <p:spPr>
          <a:xfrm>
            <a:off x="914400" y="3794760"/>
            <a:ext cx="2011680" cy="45720"/>
          </a:xfrm>
          <a:prstGeom prst="rect">
            <a:avLst/>
          </a:prstGeom>
          <a:solidFill>
            <a:srgbClr val="11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14800"/>
            <a:ext cx="10332720" cy="822960"/>
          </a:xfrm>
          <a:prstGeom prst="rect">
            <a:avLst/>
          </a:prstGeom>
          <a:noFill/>
        </p:spPr>
        <p:txBody>
          <a:bodyPr wrap="square" lIns="0" rIns="0" tIns="0" bIns="0">
            <a:spAutoFit/>
          </a:bodyPr>
          <a:lstStyle/>
          <a:p>
            <a:pPr algn="l">
              <a:lnSpc>
                <a:spcPct val="135000"/>
              </a:lnSpc>
            </a:pPr>
            <a:r>
              <a:rPr sz="1300" b="0">
                <a:solidFill>
                  <a:srgbClr val="C8D8EC"/>
                </a:solidFill>
                <a:latin typeface="Calibri"/>
              </a:rPr>
              <a:t>Saaras v4  ·  sarvam-105b  ·  Bulbul v3        Hindi and English</a:t>
            </a:r>
          </a:p>
          <a:p>
            <a:pPr algn="l">
              <a:lnSpc>
                <a:spcPct val="135000"/>
              </a:lnSpc>
            </a:pPr>
            <a:r>
              <a:rPr sz="1300" b="0">
                <a:solidFill>
                  <a:srgbClr val="C8D8EC"/>
                </a:solidFill>
                <a:latin typeface="Calibri"/>
              </a:rPr>
              <a:t>One vendor, one API key, no other model provider in the pipeline</a:t>
            </a:r>
          </a:p>
        </p:txBody>
      </p:sp>
      <p:sp>
        <p:nvSpPr>
          <p:cNvPr id="7" name="TextBox 6"/>
          <p:cNvSpPr txBox="1"/>
          <p:nvPr/>
        </p:nvSpPr>
        <p:spPr>
          <a:xfrm>
            <a:off x="914400" y="5943600"/>
            <a:ext cx="10332720" cy="320040"/>
          </a:xfrm>
          <a:prstGeom prst="rect">
            <a:avLst/>
          </a:prstGeom>
          <a:noFill/>
        </p:spPr>
        <p:txBody>
          <a:bodyPr wrap="square" lIns="0" rIns="0" tIns="0" bIns="0">
            <a:spAutoFit/>
          </a:bodyPr>
          <a:lstStyle/>
          <a:p>
            <a:pPr algn="l">
              <a:lnSpc>
                <a:spcPct val="100000"/>
              </a:lnSpc>
            </a:pPr>
            <a:r>
              <a:rPr sz="1100" b="0">
                <a:solidFill>
                  <a:srgbClr val="7F9CC0"/>
                </a:solidFill>
                <a:latin typeface="Calibri"/>
              </a:rPr>
              <a:t>5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THE PROBLEM</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Early-delinquency EMI reminders</a:t>
            </a:r>
          </a:p>
        </p:txBody>
      </p:sp>
      <p:sp>
        <p:nvSpPr>
          <p:cNvPr id="5" name="TextBox 4"/>
          <p:cNvSpPr txBox="1"/>
          <p:nvPr/>
        </p:nvSpPr>
        <p:spPr>
          <a:xfrm>
            <a:off x="502920" y="1325880"/>
            <a:ext cx="11155680" cy="365760"/>
          </a:xfrm>
          <a:prstGeom prst="rect">
            <a:avLst/>
          </a:prstGeom>
          <a:noFill/>
        </p:spPr>
        <p:txBody>
          <a:bodyPr wrap="square" lIns="0" rIns="0" tIns="0" bIns="0">
            <a:spAutoFit/>
          </a:bodyPr>
          <a:lstStyle/>
          <a:p>
            <a:pPr algn="l">
              <a:lnSpc>
                <a:spcPct val="100000"/>
              </a:lnSpc>
            </a:pPr>
            <a:r>
              <a:rPr sz="1300" b="0">
                <a:solidFill>
                  <a:srgbClr val="5A5A5A"/>
                </a:solidFill>
                <a:latin typeface="Calibri"/>
              </a:rPr>
              <a:t>The highest-volume, lowest-complexity conversation in the book — and the one that costs the most to staff.</a:t>
            </a:r>
          </a:p>
        </p:txBody>
      </p:sp>
      <p:sp>
        <p:nvSpPr>
          <p:cNvPr id="6" name="Rounded Rectangle 5"/>
          <p:cNvSpPr/>
          <p:nvPr/>
        </p:nvSpPr>
        <p:spPr>
          <a:xfrm>
            <a:off x="502920" y="1920240"/>
            <a:ext cx="3566160" cy="173736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B12A2A"/>
                </a:solidFill>
              </a:rPr>
              <a:t>Cost per touch</a:t>
            </a:r>
          </a:p>
          <a:p>
            <a:r>
              <a:rPr sz="1200">
                <a:solidFill>
                  <a:srgbClr val="5A5A5A"/>
                </a:solidFill>
              </a:rPr>
              <a:t/>
            </a:r>
          </a:p>
          <a:p>
            <a:r>
              <a:rPr sz="1200">
                <a:solidFill>
                  <a:srgbClr val="5A5A5A"/>
                </a:solidFill>
              </a:rPr>
              <a:t>₹40–80 for a human agent, all-in.</a:t>
            </a:r>
          </a:p>
          <a:p>
            <a:r>
              <a:rPr sz="1200">
                <a:solidFill>
                  <a:srgbClr val="5A5A5A"/>
                </a:solidFill>
              </a:rPr>
              <a:t/>
            </a:r>
          </a:p>
          <a:p>
            <a:r>
              <a:rPr sz="1200">
                <a:solidFill>
                  <a:srgbClr val="5A5A5A"/>
                </a:solidFill>
              </a:rPr>
              <a:t>The same cost as a hard</a:t>
            </a:r>
          </a:p>
          <a:p>
            <a:r>
              <a:rPr sz="1200">
                <a:solidFill>
                  <a:srgbClr val="5A5A5A"/>
                </a:solidFill>
              </a:rPr>
              <a:t>negotiation, for a reminder.</a:t>
            </a:r>
          </a:p>
        </p:txBody>
      </p:sp>
      <p:sp>
        <p:nvSpPr>
          <p:cNvPr id="7" name="Rounded Rectangle 6"/>
          <p:cNvSpPr/>
          <p:nvPr/>
        </p:nvSpPr>
        <p:spPr>
          <a:xfrm>
            <a:off x="4297680" y="1920240"/>
            <a:ext cx="3566160" cy="173736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B12A2A"/>
                </a:solidFill>
              </a:rPr>
              <a:t>QA coverage</a:t>
            </a:r>
          </a:p>
          <a:p>
            <a:r>
              <a:rPr sz="1200">
                <a:solidFill>
                  <a:srgbClr val="5A5A5A"/>
                </a:solidFill>
              </a:rPr>
              <a:t/>
            </a:r>
          </a:p>
          <a:p>
            <a:r>
              <a:rPr sz="1200">
                <a:solidFill>
                  <a:srgbClr val="5A5A5A"/>
                </a:solidFill>
              </a:rPr>
              <a:t>~2% of calls reviewed.</a:t>
            </a:r>
          </a:p>
          <a:p>
            <a:r>
              <a:rPr sz="1200">
                <a:solidFill>
                  <a:srgbClr val="5A5A5A"/>
                </a:solidFill>
              </a:rPr>
              <a:t/>
            </a:r>
          </a:p>
          <a:p>
            <a:r>
              <a:rPr sz="1200">
                <a:solidFill>
                  <a:srgbClr val="5A5A5A"/>
                </a:solidFill>
              </a:rPr>
              <a:t>Conduct, tone and window</a:t>
            </a:r>
          </a:p>
          <a:p>
            <a:r>
              <a:rPr sz="1200">
                <a:solidFill>
                  <a:srgbClr val="5A5A5A"/>
                </a:solidFill>
              </a:rPr>
              <a:t>compliance are unobserved</a:t>
            </a:r>
          </a:p>
          <a:p>
            <a:r>
              <a:rPr sz="1200">
                <a:solidFill>
                  <a:srgbClr val="5A5A5A"/>
                </a:solidFill>
              </a:rPr>
              <a:t>on the other 98%.</a:t>
            </a:r>
          </a:p>
        </p:txBody>
      </p:sp>
      <p:sp>
        <p:nvSpPr>
          <p:cNvPr id="8" name="Rounded Rectangle 7"/>
          <p:cNvSpPr/>
          <p:nvPr/>
        </p:nvSpPr>
        <p:spPr>
          <a:xfrm>
            <a:off x="8092440" y="1920240"/>
            <a:ext cx="3566160" cy="173736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B12A2A"/>
                </a:solidFill>
              </a:rPr>
              <a:t>Language coverage</a:t>
            </a:r>
          </a:p>
          <a:p>
            <a:r>
              <a:rPr sz="1200">
                <a:solidFill>
                  <a:srgbClr val="5A5A5A"/>
                </a:solidFill>
              </a:rPr>
              <a:t/>
            </a:r>
          </a:p>
          <a:p>
            <a:r>
              <a:rPr sz="1200">
                <a:solidFill>
                  <a:srgbClr val="5A5A5A"/>
                </a:solidFill>
              </a:rPr>
              <a:t>Six languages needed,</a:t>
            </a:r>
          </a:p>
          <a:p>
            <a:r>
              <a:rPr sz="1200">
                <a:solidFill>
                  <a:srgbClr val="5A5A5A"/>
                </a:solidFill>
              </a:rPr>
              <a:t>never staffed on every shift.</a:t>
            </a:r>
          </a:p>
          <a:p>
            <a:r>
              <a:rPr sz="1200">
                <a:solidFill>
                  <a:srgbClr val="5A5A5A"/>
                </a:solidFill>
              </a:rPr>
              <a:t/>
            </a:r>
          </a:p>
          <a:p>
            <a:r>
              <a:rPr sz="1200">
                <a:solidFill>
                  <a:srgbClr val="5A5A5A"/>
                </a:solidFill>
              </a:rPr>
              <a:t>So the borrower gets a</a:t>
            </a:r>
          </a:p>
          <a:p>
            <a:r>
              <a:rPr sz="1200">
                <a:solidFill>
                  <a:srgbClr val="5A5A5A"/>
                </a:solidFill>
              </a:rPr>
              <a:t>language they did not choose.</a:t>
            </a:r>
          </a:p>
        </p:txBody>
      </p:sp>
      <p:sp>
        <p:nvSpPr>
          <p:cNvPr id="9" name="Rounded Rectangle 8"/>
          <p:cNvSpPr/>
          <p:nvPr/>
        </p:nvSpPr>
        <p:spPr>
          <a:xfrm>
            <a:off x="502920" y="3931920"/>
            <a:ext cx="11155680" cy="2148840"/>
          </a:xfrm>
          <a:prstGeom prst="roundRect">
            <a:avLst/>
          </a:prstGeom>
          <a:solidFill>
            <a:srgbClr val="ECF4EC"/>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1E7A3C"/>
                </a:solidFill>
              </a:rPr>
              <a:t>What the borrower actually needs</a:t>
            </a:r>
          </a:p>
          <a:p>
            <a:r>
              <a:rPr sz="1200">
                <a:solidFill>
                  <a:srgbClr val="5A5A5A"/>
                </a:solidFill>
              </a:rPr>
              <a:t/>
            </a:r>
          </a:p>
          <a:p>
            <a:r>
              <a:rPr sz="1200">
                <a:solidFill>
                  <a:srgbClr val="5A5A5A"/>
                </a:solidFill>
              </a:rPr>
              <a:t>A short, polite, correctly-timed reminder in their own language that records what they commit to.</a:t>
            </a:r>
          </a:p>
          <a:p>
            <a:r>
              <a:rPr sz="1200">
                <a:solidFill>
                  <a:srgbClr val="5A5A5A"/>
                </a:solidFill>
              </a:rPr>
              <a:t/>
            </a:r>
          </a:p>
          <a:p>
            <a:r>
              <a:rPr sz="1200">
                <a:solidFill>
                  <a:srgbClr val="5A5A5A"/>
                </a:solidFill>
              </a:rPr>
              <a:t>Nothing about that requires a human — until the conversation becomes a dispute, a hardship case, or a</a:t>
            </a:r>
          </a:p>
          <a:p>
            <a:r>
              <a:rPr sz="1200">
                <a:solidFill>
                  <a:srgbClr val="5A5A5A"/>
                </a:solidFill>
              </a:rPr>
              <a:t>settlement request. Those are the calls a person should be taking, and today they are buried in the volume.</a:t>
            </a:r>
          </a:p>
        </p:txBody>
      </p:sp>
      <p:sp>
        <p:nvSpPr>
          <p:cNvPr id="10" name="TextBox 9"/>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CURRENT STATE → FUTURE STATE</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What changes operationally</a:t>
            </a:r>
          </a:p>
        </p:txBody>
      </p:sp>
      <p:graphicFrame>
        <p:nvGraphicFramePr>
          <p:cNvPr id="5" name="Table 4"/>
          <p:cNvGraphicFramePr>
            <a:graphicFrameLocks noGrp="1"/>
          </p:cNvGraphicFramePr>
          <p:nvPr/>
        </p:nvGraphicFramePr>
        <p:xfrm>
          <a:off x="502920" y="1371600"/>
          <a:ext cx="11155680" cy="4023360"/>
        </p:xfrm>
        <a:graphic>
          <a:graphicData uri="http://schemas.openxmlformats.org/drawingml/2006/table">
            <a:tbl>
              <a:tblPr firstRow="1" bandRow="1">
                <a:tableStyleId>{5C22544A-7EE6-4342-B048-85BDC9FD1C3A}</a:tableStyleId>
              </a:tblPr>
              <a:tblGrid>
                <a:gridCol w="3200400"/>
                <a:gridCol w="3657600"/>
                <a:gridCol w="4297680"/>
              </a:tblGrid>
              <a:tr h="402336">
                <a:tc>
                  <a:txBody>
                    <a:bodyPr wrap="square"/>
                    <a:lstStyle/>
                    <a:p>
                      <a:r>
                        <a:rPr sz="1000" b="1">
                          <a:solidFill>
                            <a:srgbClr val="FFFFFF"/>
                          </a:solidFill>
                        </a:rPr>
                        <a:t/>
                      </a:r>
                    </a:p>
                  </a:txBody>
                  <a:tcPr>
                    <a:solidFill>
                      <a:srgbClr val="0F1E3C"/>
                    </a:solidFill>
                  </a:tcPr>
                </a:tc>
                <a:tc>
                  <a:txBody>
                    <a:bodyPr wrap="square"/>
                    <a:lstStyle/>
                    <a:p>
                      <a:r>
                        <a:rPr sz="1000" b="1">
                          <a:solidFill>
                            <a:srgbClr val="FFFFFF"/>
                          </a:solidFill>
                        </a:rPr>
                        <a:t>Today</a:t>
                      </a:r>
                    </a:p>
                  </a:txBody>
                  <a:tcPr>
                    <a:solidFill>
                      <a:srgbClr val="0F1E3C"/>
                    </a:solidFill>
                  </a:tcPr>
                </a:tc>
                <a:tc>
                  <a:txBody>
                    <a:bodyPr wrap="square"/>
                    <a:lstStyle/>
                    <a:p>
                      <a:r>
                        <a:rPr sz="1000" b="1">
                          <a:solidFill>
                            <a:srgbClr val="FFFFFF"/>
                          </a:solidFill>
                        </a:rPr>
                        <a:t>With the agent</a:t>
                      </a:r>
                    </a:p>
                  </a:txBody>
                  <a:tcPr>
                    <a:solidFill>
                      <a:srgbClr val="0F1E3C"/>
                    </a:solidFill>
                  </a:tcPr>
                </a:tc>
              </a:tr>
              <a:tr h="402336">
                <a:tc>
                  <a:txBody>
                    <a:bodyPr wrap="square"/>
                    <a:lstStyle/>
                    <a:p>
                      <a:r>
                        <a:rPr sz="1100" b="0">
                          <a:solidFill>
                            <a:srgbClr val="0F1E3C"/>
                          </a:solidFill>
                        </a:rPr>
                        <a:t>Who makes the call</a:t>
                      </a:r>
                    </a:p>
                  </a:txBody>
                  <a:tcPr>
                    <a:solidFill>
                      <a:srgbClr val="FFFFFF"/>
                    </a:solidFill>
                  </a:tcPr>
                </a:tc>
                <a:tc>
                  <a:txBody>
                    <a:bodyPr wrap="square"/>
                    <a:lstStyle/>
                    <a:p>
                      <a:r>
                        <a:rPr sz="1100" b="0">
                          <a:solidFill>
                            <a:srgbClr val="0F1E3C"/>
                          </a:solidFill>
                        </a:rPr>
                        <a:t>Human agent, every call</a:t>
                      </a:r>
                    </a:p>
                  </a:txBody>
                  <a:tcPr>
                    <a:solidFill>
                      <a:srgbClr val="FFFFFF"/>
                    </a:solidFill>
                  </a:tcPr>
                </a:tc>
                <a:tc>
                  <a:txBody>
                    <a:bodyPr wrap="square"/>
                    <a:lstStyle/>
                    <a:p>
                      <a:r>
                        <a:rPr sz="1100" b="1">
                          <a:solidFill>
                            <a:srgbClr val="0F1E3C"/>
                          </a:solidFill>
                        </a:rPr>
                        <a:t>Agent for early buckets; human for exceptions</a:t>
                      </a:r>
                    </a:p>
                  </a:txBody>
                  <a:tcPr>
                    <a:solidFill>
                      <a:srgbClr val="FFFFFF"/>
                    </a:solidFill>
                  </a:tcPr>
                </a:tc>
              </a:tr>
              <a:tr h="402336">
                <a:tc>
                  <a:txBody>
                    <a:bodyPr wrap="square"/>
                    <a:lstStyle/>
                    <a:p>
                      <a:r>
                        <a:rPr sz="1100" b="0">
                          <a:solidFill>
                            <a:srgbClr val="0F1E3C"/>
                          </a:solidFill>
                        </a:rPr>
                        <a:t>Cost per touch</a:t>
                      </a:r>
                    </a:p>
                  </a:txBody>
                  <a:tcPr>
                    <a:solidFill>
                      <a:srgbClr val="F2F5F9"/>
                    </a:solidFill>
                  </a:tcPr>
                </a:tc>
                <a:tc>
                  <a:txBody>
                    <a:bodyPr wrap="square"/>
                    <a:lstStyle/>
                    <a:p>
                      <a:r>
                        <a:rPr sz="1100" b="0">
                          <a:solidFill>
                            <a:srgbClr val="0F1E3C"/>
                          </a:solidFill>
                        </a:rPr>
                        <a:t>₹40–80</a:t>
                      </a:r>
                    </a:p>
                  </a:txBody>
                  <a:tcPr>
                    <a:solidFill>
                      <a:srgbClr val="F2F5F9"/>
                    </a:solidFill>
                  </a:tcPr>
                </a:tc>
                <a:tc>
                  <a:txBody>
                    <a:bodyPr wrap="square"/>
                    <a:lstStyle/>
                    <a:p>
                      <a:r>
                        <a:rPr sz="1100" b="1">
                          <a:solidFill>
                            <a:srgbClr val="0F1E3C"/>
                          </a:solidFill>
                        </a:rPr>
                        <a:t>≈₹4 (placeholder rates — see commercials)</a:t>
                      </a:r>
                    </a:p>
                  </a:txBody>
                  <a:tcPr>
                    <a:solidFill>
                      <a:srgbClr val="F2F5F9"/>
                    </a:solidFill>
                  </a:tcPr>
                </a:tc>
              </a:tr>
              <a:tr h="402336">
                <a:tc>
                  <a:txBody>
                    <a:bodyPr wrap="square"/>
                    <a:lstStyle/>
                    <a:p>
                      <a:r>
                        <a:rPr sz="1100" b="0">
                          <a:solidFill>
                            <a:srgbClr val="0F1E3C"/>
                          </a:solidFill>
                        </a:rPr>
                        <a:t>Calls reviewed for compliance</a:t>
                      </a:r>
                    </a:p>
                  </a:txBody>
                  <a:tcPr>
                    <a:solidFill>
                      <a:srgbClr val="FFFFFF"/>
                    </a:solidFill>
                  </a:tcPr>
                </a:tc>
                <a:tc>
                  <a:txBody>
                    <a:bodyPr wrap="square"/>
                    <a:lstStyle/>
                    <a:p>
                      <a:r>
                        <a:rPr sz="1100" b="0">
                          <a:solidFill>
                            <a:srgbClr val="0F1E3C"/>
                          </a:solidFill>
                        </a:rPr>
                        <a:t>~2% sample</a:t>
                      </a:r>
                    </a:p>
                  </a:txBody>
                  <a:tcPr>
                    <a:solidFill>
                      <a:srgbClr val="FFFFFF"/>
                    </a:solidFill>
                  </a:tcPr>
                </a:tc>
                <a:tc>
                  <a:txBody>
                    <a:bodyPr wrap="square"/>
                    <a:lstStyle/>
                    <a:p>
                      <a:r>
                        <a:rPr sz="1100" b="1">
                          <a:solidFill>
                            <a:srgbClr val="0F1E3C"/>
                          </a:solidFill>
                        </a:rPr>
                        <a:t>100%, scored automatically</a:t>
                      </a:r>
                    </a:p>
                  </a:txBody>
                  <a:tcPr>
                    <a:solidFill>
                      <a:srgbClr val="FFFFFF"/>
                    </a:solidFill>
                  </a:tcPr>
                </a:tc>
              </a:tr>
              <a:tr h="402336">
                <a:tc>
                  <a:txBody>
                    <a:bodyPr wrap="square"/>
                    <a:lstStyle/>
                    <a:p>
                      <a:r>
                        <a:rPr sz="1100" b="0">
                          <a:solidFill>
                            <a:srgbClr val="0F1E3C"/>
                          </a:solidFill>
                        </a:rPr>
                        <a:t>Languages on any given shift</a:t>
                      </a:r>
                    </a:p>
                  </a:txBody>
                  <a:tcPr>
                    <a:solidFill>
                      <a:srgbClr val="F2F5F9"/>
                    </a:solidFill>
                  </a:tcPr>
                </a:tc>
                <a:tc>
                  <a:txBody>
                    <a:bodyPr wrap="square"/>
                    <a:lstStyle/>
                    <a:p>
                      <a:r>
                        <a:rPr sz="1100" b="0">
                          <a:solidFill>
                            <a:srgbClr val="0F1E3C"/>
                          </a:solidFill>
                        </a:rPr>
                        <a:t>Whatever is rostered</a:t>
                      </a:r>
                    </a:p>
                  </a:txBody>
                  <a:tcPr>
                    <a:solidFill>
                      <a:srgbClr val="F2F5F9"/>
                    </a:solidFill>
                  </a:tcPr>
                </a:tc>
                <a:tc>
                  <a:txBody>
                    <a:bodyPr wrap="square"/>
                    <a:lstStyle/>
                    <a:p>
                      <a:r>
                        <a:rPr sz="1100" b="1">
                          <a:solidFill>
                            <a:srgbClr val="0F1E3C"/>
                          </a:solidFill>
                        </a:rPr>
                        <a:t>Every supported language, always</a:t>
                      </a:r>
                    </a:p>
                  </a:txBody>
                  <a:tcPr>
                    <a:solidFill>
                      <a:srgbClr val="F2F5F9"/>
                    </a:solidFill>
                  </a:tcPr>
                </a:tc>
              </a:tr>
              <a:tr h="402336">
                <a:tc>
                  <a:txBody>
                    <a:bodyPr wrap="square"/>
                    <a:lstStyle/>
                    <a:p>
                      <a:r>
                        <a:rPr sz="1100" b="0">
                          <a:solidFill>
                            <a:srgbClr val="0F1E3C"/>
                          </a:solidFill>
                        </a:rPr>
                        <a:t>Calling-window breaches</a:t>
                      </a:r>
                    </a:p>
                  </a:txBody>
                  <a:tcPr>
                    <a:solidFill>
                      <a:srgbClr val="FFFFFF"/>
                    </a:solidFill>
                  </a:tcPr>
                </a:tc>
                <a:tc>
                  <a:txBody>
                    <a:bodyPr wrap="square"/>
                    <a:lstStyle/>
                    <a:p>
                      <a:r>
                        <a:rPr sz="1100" b="0">
                          <a:solidFill>
                            <a:srgbClr val="0F1E3C"/>
                          </a:solidFill>
                        </a:rPr>
                        <a:t>Detected after the fact, if at all</a:t>
                      </a:r>
                    </a:p>
                  </a:txBody>
                  <a:tcPr>
                    <a:solidFill>
                      <a:srgbClr val="FFFFFF"/>
                    </a:solidFill>
                  </a:tcPr>
                </a:tc>
                <a:tc>
                  <a:txBody>
                    <a:bodyPr wrap="square"/>
                    <a:lstStyle/>
                    <a:p>
                      <a:r>
                        <a:rPr sz="1100" b="1">
                          <a:solidFill>
                            <a:srgbClr val="0F1E3C"/>
                          </a:solidFill>
                        </a:rPr>
                        <a:t>Impossible — the gate refuses the call</a:t>
                      </a:r>
                    </a:p>
                  </a:txBody>
                  <a:tcPr>
                    <a:solidFill>
                      <a:srgbClr val="FFFFFF"/>
                    </a:solidFill>
                  </a:tcPr>
                </a:tc>
              </a:tr>
              <a:tr h="402336">
                <a:tc>
                  <a:txBody>
                    <a:bodyPr wrap="square"/>
                    <a:lstStyle/>
                    <a:p>
                      <a:r>
                        <a:rPr sz="1100" b="0">
                          <a:solidFill>
                            <a:srgbClr val="0F1E3C"/>
                          </a:solidFill>
                        </a:rPr>
                        <a:t>Consent / DND enforcement</a:t>
                      </a:r>
                    </a:p>
                  </a:txBody>
                  <a:tcPr>
                    <a:solidFill>
                      <a:srgbClr val="F2F5F9"/>
                    </a:solidFill>
                  </a:tcPr>
                </a:tc>
                <a:tc>
                  <a:txBody>
                    <a:bodyPr wrap="square"/>
                    <a:lstStyle/>
                    <a:p>
                      <a:r>
                        <a:rPr sz="1100" b="0">
                          <a:solidFill>
                            <a:srgbClr val="0F1E3C"/>
                          </a:solidFill>
                        </a:rPr>
                        <a:t>Process and training</a:t>
                      </a:r>
                    </a:p>
                  </a:txBody>
                  <a:tcPr>
                    <a:solidFill>
                      <a:srgbClr val="F2F5F9"/>
                    </a:solidFill>
                  </a:tcPr>
                </a:tc>
                <a:tc>
                  <a:txBody>
                    <a:bodyPr wrap="square"/>
                    <a:lstStyle/>
                    <a:p>
                      <a:r>
                        <a:rPr sz="1100" b="1">
                          <a:solidFill>
                            <a:srgbClr val="0F1E3C"/>
                          </a:solidFill>
                        </a:rPr>
                        <a:t>Enforced at ingest; no code path can reach them</a:t>
                      </a:r>
                    </a:p>
                  </a:txBody>
                  <a:tcPr>
                    <a:solidFill>
                      <a:srgbClr val="F2F5F9"/>
                    </a:solidFill>
                  </a:tcPr>
                </a:tc>
              </a:tr>
              <a:tr h="402336">
                <a:tc>
                  <a:txBody>
                    <a:bodyPr wrap="square"/>
                    <a:lstStyle/>
                    <a:p>
                      <a:r>
                        <a:rPr sz="1100" b="0">
                          <a:solidFill>
                            <a:srgbClr val="0F1E3C"/>
                          </a:solidFill>
                        </a:rPr>
                        <a:t>Promise-to-pay capture</a:t>
                      </a:r>
                    </a:p>
                  </a:txBody>
                  <a:tcPr>
                    <a:solidFill>
                      <a:srgbClr val="FFFFFF"/>
                    </a:solidFill>
                  </a:tcPr>
                </a:tc>
                <a:tc>
                  <a:txBody>
                    <a:bodyPr wrap="square"/>
                    <a:lstStyle/>
                    <a:p>
                      <a:r>
                        <a:rPr sz="1100" b="0">
                          <a:solidFill>
                            <a:srgbClr val="0F1E3C"/>
                          </a:solidFill>
                        </a:rPr>
                        <a:t>Agent notes, variable quality</a:t>
                      </a:r>
                    </a:p>
                  </a:txBody>
                  <a:tcPr>
                    <a:solidFill>
                      <a:srgbClr val="FFFFFF"/>
                    </a:solidFill>
                  </a:tcPr>
                </a:tc>
                <a:tc>
                  <a:txBody>
                    <a:bodyPr wrap="square"/>
                    <a:lstStyle/>
                    <a:p>
                      <a:r>
                        <a:rPr sz="1100" b="1">
                          <a:solidFill>
                            <a:srgbClr val="0F1E3C"/>
                          </a:solidFill>
                        </a:rPr>
                        <a:t>Structured, idempotent, written to the CDR</a:t>
                      </a:r>
                    </a:p>
                  </a:txBody>
                  <a:tcPr>
                    <a:solidFill>
                      <a:srgbClr val="FFFFFF"/>
                    </a:solidFill>
                  </a:tcPr>
                </a:tc>
              </a:tr>
              <a:tr h="402336">
                <a:tc>
                  <a:txBody>
                    <a:bodyPr wrap="square"/>
                    <a:lstStyle/>
                    <a:p>
                      <a:r>
                        <a:rPr sz="1100" b="0">
                          <a:solidFill>
                            <a:srgbClr val="0F1E3C"/>
                          </a:solidFill>
                        </a:rPr>
                        <a:t>Escalation to a human</a:t>
                      </a:r>
                    </a:p>
                  </a:txBody>
                  <a:tcPr>
                    <a:solidFill>
                      <a:srgbClr val="F2F5F9"/>
                    </a:solidFill>
                  </a:tcPr>
                </a:tc>
                <a:tc>
                  <a:txBody>
                    <a:bodyPr wrap="square"/>
                    <a:lstStyle/>
                    <a:p>
                      <a:r>
                        <a:rPr sz="1100" b="0">
                          <a:solidFill>
                            <a:srgbClr val="0F1E3C"/>
                          </a:solidFill>
                        </a:rPr>
                        <a:t>Whenever the agent decides</a:t>
                      </a:r>
                    </a:p>
                  </a:txBody>
                  <a:tcPr>
                    <a:solidFill>
                      <a:srgbClr val="F2F5F9"/>
                    </a:solidFill>
                  </a:tcPr>
                </a:tc>
                <a:tc>
                  <a:txBody>
                    <a:bodyPr wrap="square"/>
                    <a:lstStyle/>
                    <a:p>
                      <a:r>
                        <a:rPr sz="1100" b="1">
                          <a:solidFill>
                            <a:srgbClr val="0F1E3C"/>
                          </a:solidFill>
                        </a:rPr>
                        <a:t>Detected on the call and routed with context</a:t>
                      </a:r>
                    </a:p>
                  </a:txBody>
                  <a:tcPr>
                    <a:solidFill>
                      <a:srgbClr val="F2F5F9"/>
                    </a:solidFill>
                  </a:tcPr>
                </a:tc>
              </a:tr>
              <a:tr h="402336">
                <a:tc>
                  <a:txBody>
                    <a:bodyPr wrap="square"/>
                    <a:lstStyle/>
                    <a:p>
                      <a:r>
                        <a:rPr sz="1100" b="0">
                          <a:solidFill>
                            <a:srgbClr val="0F1E3C"/>
                          </a:solidFill>
                        </a:rPr>
                        <a:t>Scaling for month-end</a:t>
                      </a:r>
                    </a:p>
                  </a:txBody>
                  <a:tcPr>
                    <a:solidFill>
                      <a:srgbClr val="FFFFFF"/>
                    </a:solidFill>
                  </a:tcPr>
                </a:tc>
                <a:tc>
                  <a:txBody>
                    <a:bodyPr wrap="square"/>
                    <a:lstStyle/>
                    <a:p>
                      <a:r>
                        <a:rPr sz="1100" b="0">
                          <a:solidFill>
                            <a:srgbClr val="0F1E3C"/>
                          </a:solidFill>
                        </a:rPr>
                        <a:t>Hire and roster</a:t>
                      </a:r>
                    </a:p>
                  </a:txBody>
                  <a:tcPr>
                    <a:solidFill>
                      <a:srgbClr val="FFFFFF"/>
                    </a:solidFill>
                  </a:tcPr>
                </a:tc>
                <a:tc>
                  <a:txBody>
                    <a:bodyPr wrap="square"/>
                    <a:lstStyle/>
                    <a:p>
                      <a:r>
                        <a:rPr sz="1100" b="1">
                          <a:solidFill>
                            <a:srgbClr val="0F1E3C"/>
                          </a:solidFill>
                        </a:rPr>
                        <a:t>Same cost per call at 500 or 50,000</a:t>
                      </a:r>
                    </a:p>
                  </a:txBody>
                  <a:tcPr>
                    <a:solidFill>
                      <a:srgbClr val="FFFFFF"/>
                    </a:solidFill>
                  </a:tcPr>
                </a:tc>
              </a:tr>
            </a:tbl>
          </a:graphicData>
        </a:graphic>
      </p:graphicFrame>
      <p:sp>
        <p:nvSpPr>
          <p:cNvPr id="6" name="TextBox 5"/>
          <p:cNvSpPr txBox="1"/>
          <p:nvPr/>
        </p:nvSpPr>
        <p:spPr>
          <a:xfrm>
            <a:off x="502920" y="6263640"/>
            <a:ext cx="11155680" cy="365760"/>
          </a:xfrm>
          <a:prstGeom prst="rect">
            <a:avLst/>
          </a:prstGeom>
          <a:noFill/>
        </p:spPr>
        <p:txBody>
          <a:bodyPr wrap="square" lIns="0" rIns="0" tIns="0" bIns="0">
            <a:spAutoFit/>
          </a:bodyPr>
          <a:lstStyle/>
          <a:p>
            <a:pPr algn="l">
              <a:lnSpc>
                <a:spcPct val="100000"/>
              </a:lnSpc>
            </a:pPr>
            <a:r>
              <a:rPr sz="900" b="0">
                <a:solidFill>
                  <a:srgbClr val="5A5A5A"/>
                </a:solidFill>
                <a:latin typeface="Calibri"/>
              </a:rPr>
              <a:t>The model is deflection, not replacement: human capacity is still required for the exceptions the agent detects.</a:t>
            </a:r>
          </a:p>
        </p:txBody>
      </p:sp>
      <p:sp>
        <p:nvSpPr>
          <p:cNvPr id="7" name="TextBox 6"/>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WHY SARVAM</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Compared with the stack most voice agents are built on</a:t>
            </a:r>
          </a:p>
        </p:txBody>
      </p:sp>
      <p:graphicFrame>
        <p:nvGraphicFramePr>
          <p:cNvPr id="5" name="Table 4"/>
          <p:cNvGraphicFramePr>
            <a:graphicFrameLocks noGrp="1"/>
          </p:cNvGraphicFramePr>
          <p:nvPr/>
        </p:nvGraphicFramePr>
        <p:xfrm>
          <a:off x="502920" y="1325880"/>
          <a:ext cx="11155680" cy="4608576"/>
        </p:xfrm>
        <a:graphic>
          <a:graphicData uri="http://schemas.openxmlformats.org/drawingml/2006/table">
            <a:tbl>
              <a:tblPr firstRow="1" bandRow="1">
                <a:tableStyleId>{5C22544A-7EE6-4342-B048-85BDC9FD1C3A}</a:tableStyleId>
              </a:tblPr>
              <a:tblGrid>
                <a:gridCol w="1737360"/>
                <a:gridCol w="2651760"/>
                <a:gridCol w="1554480"/>
                <a:gridCol w="5212080"/>
              </a:tblGrid>
              <a:tr h="658368">
                <a:tc>
                  <a:txBody>
                    <a:bodyPr wrap="square"/>
                    <a:lstStyle/>
                    <a:p>
                      <a:r>
                        <a:rPr sz="1000" b="1">
                          <a:solidFill>
                            <a:srgbClr val="FFFFFF"/>
                          </a:solidFill>
                        </a:rPr>
                        <a:t>Layer</a:t>
                      </a:r>
                    </a:p>
                  </a:txBody>
                  <a:tcPr>
                    <a:solidFill>
                      <a:srgbClr val="0F1E3C"/>
                    </a:solidFill>
                  </a:tcPr>
                </a:tc>
                <a:tc>
                  <a:txBody>
                    <a:bodyPr wrap="square"/>
                    <a:lstStyle/>
                    <a:p>
                      <a:r>
                        <a:rPr sz="1000" b="1">
                          <a:solidFill>
                            <a:srgbClr val="FFFFFF"/>
                          </a:solidFill>
                        </a:rPr>
                        <a:t>Typical alternative</a:t>
                      </a:r>
                    </a:p>
                  </a:txBody>
                  <a:tcPr>
                    <a:solidFill>
                      <a:srgbClr val="0F1E3C"/>
                    </a:solidFill>
                  </a:tcPr>
                </a:tc>
                <a:tc>
                  <a:txBody>
                    <a:bodyPr wrap="square"/>
                    <a:lstStyle/>
                    <a:p>
                      <a:r>
                        <a:rPr sz="1000" b="1">
                          <a:solidFill>
                            <a:srgbClr val="FFFFFF"/>
                          </a:solidFill>
                        </a:rPr>
                        <a:t>This build</a:t>
                      </a:r>
                    </a:p>
                  </a:txBody>
                  <a:tcPr>
                    <a:solidFill>
                      <a:srgbClr val="0F1E3C"/>
                    </a:solidFill>
                  </a:tcPr>
                </a:tc>
                <a:tc>
                  <a:txBody>
                    <a:bodyPr wrap="square"/>
                    <a:lstStyle/>
                    <a:p>
                      <a:r>
                        <a:rPr sz="1000" b="1">
                          <a:solidFill>
                            <a:srgbClr val="FFFFFF"/>
                          </a:solidFill>
                        </a:rPr>
                        <a:t>Why it matters here</a:t>
                      </a:r>
                    </a:p>
                  </a:txBody>
                  <a:tcPr>
                    <a:solidFill>
                      <a:srgbClr val="0F1E3C"/>
                    </a:solidFill>
                  </a:tcPr>
                </a:tc>
              </a:tr>
              <a:tr h="658368">
                <a:tc>
                  <a:txBody>
                    <a:bodyPr wrap="square"/>
                    <a:lstStyle/>
                    <a:p>
                      <a:r>
                        <a:rPr sz="1000" b="0">
                          <a:solidFill>
                            <a:srgbClr val="0F1E3C"/>
                          </a:solidFill>
                        </a:rPr>
                        <a:t>Speech recognition</a:t>
                      </a:r>
                    </a:p>
                  </a:txBody>
                  <a:tcPr>
                    <a:solidFill>
                      <a:srgbClr val="FFFFFF"/>
                    </a:solidFill>
                  </a:tcPr>
                </a:tc>
                <a:tc>
                  <a:txBody>
                    <a:bodyPr wrap="square"/>
                    <a:lstStyle/>
                    <a:p>
                      <a:r>
                        <a:rPr sz="1000" b="0">
                          <a:solidFill>
                            <a:srgbClr val="0F1E3C"/>
                          </a:solidFill>
                        </a:rPr>
                        <a:t>Deepgram, Google STT, Whisper</a:t>
                      </a:r>
                    </a:p>
                  </a:txBody>
                  <a:tcPr>
                    <a:solidFill>
                      <a:srgbClr val="FFFFFF"/>
                    </a:solidFill>
                  </a:tcPr>
                </a:tc>
                <a:tc>
                  <a:txBody>
                    <a:bodyPr wrap="square"/>
                    <a:lstStyle/>
                    <a:p>
                      <a:r>
                        <a:rPr sz="1000" b="1">
                          <a:solidFill>
                            <a:srgbClr val="0F1E3C"/>
                          </a:solidFill>
                        </a:rPr>
                        <a:t>Saaras v4</a:t>
                      </a:r>
                    </a:p>
                  </a:txBody>
                  <a:tcPr>
                    <a:solidFill>
                      <a:srgbClr val="FFFFFF"/>
                    </a:solidFill>
                  </a:tcPr>
                </a:tc>
                <a:tc>
                  <a:txBody>
                    <a:bodyPr wrap="square"/>
                    <a:lstStyle/>
                    <a:p>
                      <a:r>
                        <a:rPr sz="1000" b="0">
                          <a:solidFill>
                            <a:srgbClr val="0F1E3C"/>
                          </a:solidFill>
                        </a:rPr>
                        <a:t>Built for Indian languages and code-mixing. Measured 0.115 s processing latency; returns digits, not spelled-out numerals</a:t>
                      </a:r>
                    </a:p>
                  </a:txBody>
                  <a:tcPr>
                    <a:solidFill>
                      <a:srgbClr val="FFFFFF"/>
                    </a:solidFill>
                  </a:tcPr>
                </a:tc>
              </a:tr>
              <a:tr h="658368">
                <a:tc>
                  <a:txBody>
                    <a:bodyPr wrap="square"/>
                    <a:lstStyle/>
                    <a:p>
                      <a:r>
                        <a:rPr sz="1000" b="0">
                          <a:solidFill>
                            <a:srgbClr val="0F1E3C"/>
                          </a:solidFill>
                        </a:rPr>
                        <a:t>Speech synthesis</a:t>
                      </a:r>
                    </a:p>
                  </a:txBody>
                  <a:tcPr>
                    <a:solidFill>
                      <a:srgbClr val="F2F5F9"/>
                    </a:solidFill>
                  </a:tcPr>
                </a:tc>
                <a:tc>
                  <a:txBody>
                    <a:bodyPr wrap="square"/>
                    <a:lstStyle/>
                    <a:p>
                      <a:r>
                        <a:rPr sz="1000" b="0">
                          <a:solidFill>
                            <a:srgbClr val="0F1E3C"/>
                          </a:solidFill>
                        </a:rPr>
                        <a:t>ElevenLabs, Azure, Google</a:t>
                      </a:r>
                    </a:p>
                  </a:txBody>
                  <a:tcPr>
                    <a:solidFill>
                      <a:srgbClr val="F2F5F9"/>
                    </a:solidFill>
                  </a:tcPr>
                </a:tc>
                <a:tc>
                  <a:txBody>
                    <a:bodyPr wrap="square"/>
                    <a:lstStyle/>
                    <a:p>
                      <a:r>
                        <a:rPr sz="1000" b="1">
                          <a:solidFill>
                            <a:srgbClr val="0F1E3C"/>
                          </a:solidFill>
                        </a:rPr>
                        <a:t>Bulbul v3</a:t>
                      </a:r>
                    </a:p>
                  </a:txBody>
                  <a:tcPr>
                    <a:solidFill>
                      <a:srgbClr val="F2F5F9"/>
                    </a:solidFill>
                  </a:tcPr>
                </a:tc>
                <a:tc>
                  <a:txBody>
                    <a:bodyPr wrap="square"/>
                    <a:lstStyle/>
                    <a:p>
                      <a:r>
                        <a:rPr sz="1000" b="0">
                          <a:solidFill>
                            <a:srgbClr val="0F1E3C"/>
                          </a:solidFill>
                        </a:rPr>
                        <a:t>11 Indian languages, native speakers per language. Streams first audio in ~0.38 s</a:t>
                      </a:r>
                    </a:p>
                  </a:txBody>
                  <a:tcPr>
                    <a:solidFill>
                      <a:srgbClr val="F2F5F9"/>
                    </a:solidFill>
                  </a:tcPr>
                </a:tc>
              </a:tr>
              <a:tr h="658368">
                <a:tc>
                  <a:txBody>
                    <a:bodyPr wrap="square"/>
                    <a:lstStyle/>
                    <a:p>
                      <a:r>
                        <a:rPr sz="1000" b="0">
                          <a:solidFill>
                            <a:srgbClr val="0F1E3C"/>
                          </a:solidFill>
                        </a:rPr>
                        <a:t>Dialogue + tools</a:t>
                      </a:r>
                    </a:p>
                  </a:txBody>
                  <a:tcPr>
                    <a:solidFill>
                      <a:srgbClr val="FFFFFF"/>
                    </a:solidFill>
                  </a:tcPr>
                </a:tc>
                <a:tc>
                  <a:txBody>
                    <a:bodyPr wrap="square"/>
                    <a:lstStyle/>
                    <a:p>
                      <a:r>
                        <a:rPr sz="1000" b="0">
                          <a:solidFill>
                            <a:srgbClr val="0F1E3C"/>
                          </a:solidFill>
                        </a:rPr>
                        <a:t>GPT-4o, Claude, Gemini</a:t>
                      </a:r>
                    </a:p>
                  </a:txBody>
                  <a:tcPr>
                    <a:solidFill>
                      <a:srgbClr val="FFFFFF"/>
                    </a:solidFill>
                  </a:tcPr>
                </a:tc>
                <a:tc>
                  <a:txBody>
                    <a:bodyPr wrap="square"/>
                    <a:lstStyle/>
                    <a:p>
                      <a:r>
                        <a:rPr sz="1000" b="1">
                          <a:solidFill>
                            <a:srgbClr val="0F1E3C"/>
                          </a:solidFill>
                        </a:rPr>
                        <a:t>sarvam-105b</a:t>
                      </a:r>
                    </a:p>
                  </a:txBody>
                  <a:tcPr>
                    <a:solidFill>
                      <a:srgbClr val="FFFFFF"/>
                    </a:solidFill>
                  </a:tcPr>
                </a:tc>
                <a:tc>
                  <a:txBody>
                    <a:bodyPr wrap="square"/>
                    <a:lstStyle/>
                    <a:p>
                      <a:r>
                        <a:rPr sz="1000" b="0">
                          <a:solidFill>
                            <a:srgbClr val="0F1E3C"/>
                          </a:solidFill>
                        </a:rPr>
                        <a:t>OpenAI-compatible, so no framework lock-in. Handles Hinglish natively rather than translating through English</a:t>
                      </a:r>
                    </a:p>
                  </a:txBody>
                  <a:tcPr>
                    <a:solidFill>
                      <a:srgbClr val="FFFFFF"/>
                    </a:solidFill>
                  </a:tcPr>
                </a:tc>
              </a:tr>
              <a:tr h="658368">
                <a:tc>
                  <a:txBody>
                    <a:bodyPr wrap="square"/>
                    <a:lstStyle/>
                    <a:p>
                      <a:r>
                        <a:rPr sz="1000" b="0">
                          <a:solidFill>
                            <a:srgbClr val="0F1E3C"/>
                          </a:solidFill>
                        </a:rPr>
                        <a:t>Vendors in the path</a:t>
                      </a:r>
                    </a:p>
                  </a:txBody>
                  <a:tcPr>
                    <a:solidFill>
                      <a:srgbClr val="F2F5F9"/>
                    </a:solidFill>
                  </a:tcPr>
                </a:tc>
                <a:tc>
                  <a:txBody>
                    <a:bodyPr wrap="square"/>
                    <a:lstStyle/>
                    <a:p>
                      <a:r>
                        <a:rPr sz="1000" b="0">
                          <a:solidFill>
                            <a:srgbClr val="0F1E3C"/>
                          </a:solidFill>
                        </a:rPr>
                        <a:t>3–4 (ASR + LLM + TTS + orchestration)</a:t>
                      </a:r>
                    </a:p>
                  </a:txBody>
                  <a:tcPr>
                    <a:solidFill>
                      <a:srgbClr val="F2F5F9"/>
                    </a:solidFill>
                  </a:tcPr>
                </a:tc>
                <a:tc>
                  <a:txBody>
                    <a:bodyPr wrap="square"/>
                    <a:lstStyle/>
                    <a:p>
                      <a:r>
                        <a:rPr sz="1000" b="1">
                          <a:solidFill>
                            <a:srgbClr val="0F1E3C"/>
                          </a:solidFill>
                        </a:rPr>
                        <a:t>1</a:t>
                      </a:r>
                    </a:p>
                  </a:txBody>
                  <a:tcPr>
                    <a:solidFill>
                      <a:srgbClr val="F2F5F9"/>
                    </a:solidFill>
                  </a:tcPr>
                </a:tc>
                <a:tc>
                  <a:txBody>
                    <a:bodyPr wrap="square"/>
                    <a:lstStyle/>
                    <a:p>
                      <a:r>
                        <a:rPr sz="1000" b="0">
                          <a:solidFill>
                            <a:srgbClr val="0F1E3C"/>
                          </a:solidFill>
                        </a:rPr>
                        <a:t>One key, one contract, one support relationship, one place to negotiate rates</a:t>
                      </a:r>
                    </a:p>
                  </a:txBody>
                  <a:tcPr>
                    <a:solidFill>
                      <a:srgbClr val="F2F5F9"/>
                    </a:solidFill>
                  </a:tcPr>
                </a:tc>
              </a:tr>
              <a:tr h="658368">
                <a:tc>
                  <a:txBody>
                    <a:bodyPr wrap="square"/>
                    <a:lstStyle/>
                    <a:p>
                      <a:r>
                        <a:rPr sz="1000" b="0">
                          <a:solidFill>
                            <a:srgbClr val="0F1E3C"/>
                          </a:solidFill>
                        </a:rPr>
                        <a:t>Data residency</a:t>
                      </a:r>
                    </a:p>
                  </a:txBody>
                  <a:tcPr>
                    <a:solidFill>
                      <a:srgbClr val="FFFFFF"/>
                    </a:solidFill>
                  </a:tcPr>
                </a:tc>
                <a:tc>
                  <a:txBody>
                    <a:bodyPr wrap="square"/>
                    <a:lstStyle/>
                    <a:p>
                      <a:r>
                        <a:rPr sz="1000" b="0">
                          <a:solidFill>
                            <a:srgbClr val="0F1E3C"/>
                          </a:solidFill>
                        </a:rPr>
                        <a:t>Typically US-hosted inference</a:t>
                      </a:r>
                    </a:p>
                  </a:txBody>
                  <a:tcPr>
                    <a:solidFill>
                      <a:srgbClr val="FFFFFF"/>
                    </a:solidFill>
                  </a:tcPr>
                </a:tc>
                <a:tc>
                  <a:txBody>
                    <a:bodyPr wrap="square"/>
                    <a:lstStyle/>
                    <a:p>
                      <a:r>
                        <a:rPr sz="1000" b="1">
                          <a:solidFill>
                            <a:srgbClr val="0F1E3C"/>
                          </a:solidFill>
                        </a:rPr>
                        <a:t>Indian provider</a:t>
                      </a:r>
                    </a:p>
                  </a:txBody>
                  <a:tcPr>
                    <a:solidFill>
                      <a:srgbClr val="FFFFFF"/>
                    </a:solidFill>
                  </a:tcPr>
                </a:tc>
                <a:tc>
                  <a:txBody>
                    <a:bodyPr wrap="square"/>
                    <a:lstStyle/>
                    <a:p>
                      <a:r>
                        <a:rPr sz="1000" b="0">
                          <a:solidFill>
                            <a:srgbClr val="0F1E3C"/>
                          </a:solidFill>
                        </a:rPr>
                        <a:t>For a regulated Indian lender this is a materially different conversation from sending call audio to a US hyperscaler</a:t>
                      </a:r>
                    </a:p>
                  </a:txBody>
                  <a:tcPr>
                    <a:solidFill>
                      <a:srgbClr val="FFFFFF"/>
                    </a:solidFill>
                  </a:tcPr>
                </a:tc>
              </a:tr>
              <a:tr h="658368">
                <a:tc>
                  <a:txBody>
                    <a:bodyPr wrap="square"/>
                    <a:lstStyle/>
                    <a:p>
                      <a:r>
                        <a:rPr sz="1000" b="0">
                          <a:solidFill>
                            <a:srgbClr val="0F1E3C"/>
                          </a:solidFill>
                        </a:rPr>
                        <a:t>Deployment options</a:t>
                      </a:r>
                    </a:p>
                  </a:txBody>
                  <a:tcPr>
                    <a:solidFill>
                      <a:srgbClr val="F2F5F9"/>
                    </a:solidFill>
                  </a:tcPr>
                </a:tc>
                <a:tc>
                  <a:txBody>
                    <a:bodyPr wrap="square"/>
                    <a:lstStyle/>
                    <a:p>
                      <a:r>
                        <a:rPr sz="1000" b="0">
                          <a:solidFill>
                            <a:srgbClr val="0F1E3C"/>
                          </a:solidFill>
                        </a:rPr>
                        <a:t>Vendor cloud only, usually</a:t>
                      </a:r>
                    </a:p>
                  </a:txBody>
                  <a:tcPr>
                    <a:solidFill>
                      <a:srgbClr val="F2F5F9"/>
                    </a:solidFill>
                  </a:tcPr>
                </a:tc>
                <a:tc>
                  <a:txBody>
                    <a:bodyPr wrap="square"/>
                    <a:lstStyle/>
                    <a:p>
                      <a:r>
                        <a:rPr sz="1000" b="1">
                          <a:solidFill>
                            <a:srgbClr val="0F1E3C"/>
                          </a:solidFill>
                        </a:rPr>
                        <a:t>Cloud, hybrid or in-VPC</a:t>
                      </a:r>
                    </a:p>
                  </a:txBody>
                  <a:tcPr>
                    <a:solidFill>
                      <a:srgbClr val="F2F5F9"/>
                    </a:solidFill>
                  </a:tcPr>
                </a:tc>
                <a:tc>
                  <a:txBody>
                    <a:bodyPr wrap="square"/>
                    <a:lstStyle/>
                    <a:p>
                      <a:r>
                        <a:rPr sz="1000" b="0">
                          <a:solidFill>
                            <a:srgbClr val="0F1E3C"/>
                          </a:solidFill>
                        </a:rPr>
                        <a:t>Lets audio and PII stay inside the customer's boundary — see the architecture slides</a:t>
                      </a:r>
                    </a:p>
                  </a:txBody>
                  <a:tcPr>
                    <a:solidFill>
                      <a:srgbClr val="F2F5F9"/>
                    </a:solidFill>
                  </a:tcPr>
                </a:tc>
              </a:tr>
            </a:tbl>
          </a:graphicData>
        </a:graphic>
      </p:graphicFrame>
      <p:sp>
        <p:nvSpPr>
          <p:cNvPr id="6" name="TextBox 5"/>
          <p:cNvSpPr txBox="1"/>
          <p:nvPr/>
        </p:nvSpPr>
        <p:spPr>
          <a:xfrm>
            <a:off x="502920" y="6263640"/>
            <a:ext cx="11155680" cy="365760"/>
          </a:xfrm>
          <a:prstGeom prst="rect">
            <a:avLst/>
          </a:prstGeom>
          <a:noFill/>
        </p:spPr>
        <p:txBody>
          <a:bodyPr wrap="square" lIns="0" rIns="0" tIns="0" bIns="0">
            <a:spAutoFit/>
          </a:bodyPr>
          <a:lstStyle/>
          <a:p>
            <a:pPr algn="l">
              <a:lnSpc>
                <a:spcPct val="100000"/>
              </a:lnSpc>
            </a:pPr>
            <a:r>
              <a:rPr sz="900" b="0">
                <a:solidFill>
                  <a:srgbClr val="5A5A5A"/>
                </a:solidFill>
                <a:latin typeface="Calibri"/>
              </a:rPr>
              <a:t>Not a claim that the alternatives are worse in general — a claim that for Indian-language BFSI voice, on one vendor, this is the stronger fit.</a:t>
            </a:r>
          </a:p>
        </p:txBody>
      </p:sp>
      <p:sp>
        <p:nvSpPr>
          <p:cNvPr id="7" name="TextBox 6"/>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THE DEMO</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What you are about to see</a:t>
            </a:r>
          </a:p>
        </p:txBody>
      </p:sp>
      <p:sp>
        <p:nvSpPr>
          <p:cNvPr id="5" name="Rounded Rectangle 4"/>
          <p:cNvSpPr/>
          <p:nvPr/>
        </p:nvSpPr>
        <p:spPr>
          <a:xfrm>
            <a:off x="502920" y="1417320"/>
            <a:ext cx="3520440" cy="210312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1.  The call list</a:t>
            </a:r>
          </a:p>
          <a:p>
            <a:r>
              <a:rPr sz="1100">
                <a:solidFill>
                  <a:srgbClr val="5A5A5A"/>
                </a:solidFill>
              </a:rPr>
              <a:t/>
            </a:r>
          </a:p>
          <a:p>
            <a:r>
              <a:rPr sz="1100">
                <a:solidFill>
                  <a:srgbClr val="5A5A5A"/>
                </a:solidFill>
              </a:rPr>
              <a:t>500 borrowers arrive as a spreadsheet.</a:t>
            </a:r>
          </a:p>
          <a:p>
            <a:r>
              <a:rPr sz="1100">
                <a:solidFill>
                  <a:srgbClr val="5A5A5A"/>
                </a:solidFill>
              </a:rPr>
              <a:t>In production, a nightly CSV over SFTP.</a:t>
            </a:r>
          </a:p>
        </p:txBody>
      </p:sp>
      <p:sp>
        <p:nvSpPr>
          <p:cNvPr id="6" name="Rounded Rectangle 5"/>
          <p:cNvSpPr/>
          <p:nvPr/>
        </p:nvSpPr>
        <p:spPr>
          <a:xfrm>
            <a:off x="4279392" y="1417320"/>
            <a:ext cx="3520440" cy="210312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2.  Ingest scrubs it</a:t>
            </a:r>
          </a:p>
          <a:p>
            <a:r>
              <a:rPr sz="1100">
                <a:solidFill>
                  <a:srgbClr val="5A5A5A"/>
                </a:solidFill>
              </a:rPr>
              <a:t/>
            </a:r>
          </a:p>
          <a:p>
            <a:r>
              <a:rPr sz="1100">
                <a:solidFill>
                  <a:srgbClr val="5A5A5A"/>
                </a:solidFill>
              </a:rPr>
              <a:t>69 of 500 rejected before any call —</a:t>
            </a:r>
          </a:p>
          <a:p>
            <a:r>
              <a:rPr sz="1100">
                <a:solidFill>
                  <a:srgbClr val="5A5A5A"/>
                </a:solidFill>
              </a:rPr>
              <a:t>no consent (DPDP) or on DND (TRAI),</a:t>
            </a:r>
          </a:p>
          <a:p>
            <a:r>
              <a:rPr sz="1100">
                <a:solidFill>
                  <a:srgbClr val="5A5A5A"/>
                </a:solidFill>
              </a:rPr>
              <a:t>each named with the regulation.</a:t>
            </a:r>
          </a:p>
        </p:txBody>
      </p:sp>
      <p:sp>
        <p:nvSpPr>
          <p:cNvPr id="7" name="Rounded Rectangle 6"/>
          <p:cNvSpPr/>
          <p:nvPr/>
        </p:nvSpPr>
        <p:spPr>
          <a:xfrm>
            <a:off x="8055864" y="1417320"/>
            <a:ext cx="3520440" cy="210312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3.  The gate refuses</a:t>
            </a:r>
          </a:p>
          <a:p>
            <a:r>
              <a:rPr sz="1100">
                <a:solidFill>
                  <a:srgbClr val="5A5A5A"/>
                </a:solidFill>
              </a:rPr>
              <a:t/>
            </a:r>
          </a:p>
          <a:p>
            <a:r>
              <a:rPr sz="1100">
                <a:solidFill>
                  <a:srgbClr val="5A5A5A"/>
                </a:solidFill>
              </a:rPr>
              <a:t>Consent, DND, 08:00–19:00 IST window,</a:t>
            </a:r>
          </a:p>
          <a:p>
            <a:r>
              <a:rPr sz="1100">
                <a:solidFill>
                  <a:srgbClr val="5A5A5A"/>
                </a:solidFill>
              </a:rPr>
              <a:t>attempt cap. Fails closed and records</a:t>
            </a:r>
          </a:p>
          <a:p>
            <a:r>
              <a:rPr sz="1100">
                <a:solidFill>
                  <a:srgbClr val="5A5A5A"/>
                </a:solidFill>
              </a:rPr>
              <a:t>which rule blocked it.</a:t>
            </a:r>
          </a:p>
        </p:txBody>
      </p:sp>
      <p:sp>
        <p:nvSpPr>
          <p:cNvPr id="8" name="Rounded Rectangle 7"/>
          <p:cNvSpPr/>
          <p:nvPr/>
        </p:nvSpPr>
        <p:spPr>
          <a:xfrm>
            <a:off x="502920" y="3749039"/>
            <a:ext cx="3520440" cy="210312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4.  A real conversation</a:t>
            </a:r>
          </a:p>
          <a:p>
            <a:r>
              <a:rPr sz="1100">
                <a:solidFill>
                  <a:srgbClr val="5A5A5A"/>
                </a:solidFill>
              </a:rPr>
              <a:t/>
            </a:r>
          </a:p>
          <a:p>
            <a:r>
              <a:rPr sz="1100">
                <a:solidFill>
                  <a:srgbClr val="5A5A5A"/>
                </a:solidFill>
              </a:rPr>
              <a:t>Hindi, live. Interrupt her and she stops.</a:t>
            </a:r>
          </a:p>
          <a:p>
            <a:r>
              <a:rPr sz="1100">
                <a:solidFill>
                  <a:srgbClr val="5A5A5A"/>
                </a:solidFill>
              </a:rPr>
              <a:t>Switch to English and the voice follows.</a:t>
            </a:r>
          </a:p>
          <a:p>
            <a:r>
              <a:rPr sz="1100">
                <a:solidFill>
                  <a:srgbClr val="5A5A5A"/>
                </a:solidFill>
              </a:rPr>
              <a:t>Say you already paid and she escalates.</a:t>
            </a:r>
          </a:p>
        </p:txBody>
      </p:sp>
      <p:sp>
        <p:nvSpPr>
          <p:cNvPr id="9" name="Rounded Rectangle 8"/>
          <p:cNvSpPr/>
          <p:nvPr/>
        </p:nvSpPr>
        <p:spPr>
          <a:xfrm>
            <a:off x="4279392" y="3749039"/>
            <a:ext cx="3520440" cy="210312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5.  Actions fire</a:t>
            </a:r>
          </a:p>
          <a:p>
            <a:r>
              <a:rPr sz="1100">
                <a:solidFill>
                  <a:srgbClr val="5A5A5A"/>
                </a:solidFill>
              </a:rPr>
              <a:t/>
            </a:r>
          </a:p>
          <a:p>
            <a:r>
              <a:rPr sz="1100">
                <a:solidFill>
                  <a:srgbClr val="5A5A5A"/>
                </a:solidFill>
              </a:rPr>
              <a:t>schedule_ptp, payment link, escalation —</a:t>
            </a:r>
          </a:p>
          <a:p>
            <a:r>
              <a:rPr sz="1100">
                <a:solidFill>
                  <a:srgbClr val="5A5A5A"/>
                </a:solidFill>
              </a:rPr>
              <a:t>each with an idempotency key on a</a:t>
            </a:r>
          </a:p>
          <a:p>
            <a:r>
              <a:rPr sz="1100">
                <a:solidFill>
                  <a:srgbClr val="5A5A5A"/>
                </a:solidFill>
              </a:rPr>
              <a:t>unique index.</a:t>
            </a:r>
          </a:p>
        </p:txBody>
      </p:sp>
      <p:sp>
        <p:nvSpPr>
          <p:cNvPr id="10" name="Rounded Rectangle 9"/>
          <p:cNvSpPr/>
          <p:nvPr/>
        </p:nvSpPr>
        <p:spPr>
          <a:xfrm>
            <a:off x="8055864" y="3749039"/>
            <a:ext cx="3520440" cy="210312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6.  100% QA</a:t>
            </a:r>
          </a:p>
          <a:p>
            <a:r>
              <a:rPr sz="1100">
                <a:solidFill>
                  <a:srgbClr val="5A5A5A"/>
                </a:solidFill>
              </a:rPr>
              <a:t/>
            </a:r>
          </a:p>
          <a:p>
            <a:r>
              <a:rPr sz="1100">
                <a:solidFill>
                  <a:srgbClr val="5A5A5A"/>
                </a:solidFill>
              </a:rPr>
              <a:t>Every call scored on eight checks.</a:t>
            </a:r>
          </a:p>
          <a:p>
            <a:r>
              <a:rPr sz="1100">
                <a:solidFill>
                  <a:srgbClr val="5A5A5A"/>
                </a:solidFill>
              </a:rPr>
              <a:t>Exports to a spreadsheet.</a:t>
            </a:r>
          </a:p>
        </p:txBody>
      </p:sp>
      <p:sp>
        <p:nvSpPr>
          <p:cNvPr id="11" name="TextBox 10"/>
          <p:cNvSpPr txBox="1"/>
          <p:nvPr/>
        </p:nvSpPr>
        <p:spPr>
          <a:xfrm>
            <a:off x="502920" y="6263640"/>
            <a:ext cx="11155680" cy="365760"/>
          </a:xfrm>
          <a:prstGeom prst="rect">
            <a:avLst/>
          </a:prstGeom>
          <a:noFill/>
        </p:spPr>
        <p:txBody>
          <a:bodyPr wrap="square" lIns="0" rIns="0" tIns="0" bIns="0">
            <a:spAutoFit/>
          </a:bodyPr>
          <a:lstStyle/>
          <a:p>
            <a:pPr algn="l">
              <a:lnSpc>
                <a:spcPct val="100000"/>
              </a:lnSpc>
            </a:pPr>
            <a:r>
              <a:rPr sz="900" b="0">
                <a:solidFill>
                  <a:srgbClr val="5A5A5A"/>
                </a:solidFill>
                <a:latin typeface="Calibri"/>
              </a:rPr>
              <a:t>Everything in the demo runs against the live Sarvam API. Measured: 146 ms to first model token, 378 ms to first audio.</a:t>
            </a:r>
          </a:p>
        </p:txBody>
      </p:sp>
      <p:sp>
        <p:nvSpPr>
          <p:cNvPr id="12" name="TextBox 11"/>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HONEST SCOPE</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What is mocked in the demo, and what changes in production</a:t>
            </a:r>
          </a:p>
        </p:txBody>
      </p:sp>
      <p:graphicFrame>
        <p:nvGraphicFramePr>
          <p:cNvPr id="5" name="Table 4"/>
          <p:cNvGraphicFramePr>
            <a:graphicFrameLocks noGrp="1"/>
          </p:cNvGraphicFramePr>
          <p:nvPr/>
        </p:nvGraphicFramePr>
        <p:xfrm>
          <a:off x="502920" y="1325880"/>
          <a:ext cx="11155680" cy="4608576"/>
        </p:xfrm>
        <a:graphic>
          <a:graphicData uri="http://schemas.openxmlformats.org/drawingml/2006/table">
            <a:tbl>
              <a:tblPr firstRow="1" bandRow="1">
                <a:tableStyleId>{5C22544A-7EE6-4342-B048-85BDC9FD1C3A}</a:tableStyleId>
              </a:tblPr>
              <a:tblGrid>
                <a:gridCol w="2926080"/>
                <a:gridCol w="4023360"/>
                <a:gridCol w="4206240"/>
              </a:tblGrid>
              <a:tr h="329184">
                <a:tc>
                  <a:txBody>
                    <a:bodyPr wrap="square"/>
                    <a:lstStyle/>
                    <a:p>
                      <a:r>
                        <a:rPr sz="1000" b="1">
                          <a:solidFill>
                            <a:srgbClr val="FFFFFF"/>
                          </a:solidFill>
                        </a:rPr>
                        <a:t>Layer</a:t>
                      </a:r>
                    </a:p>
                  </a:txBody>
                  <a:tcPr>
                    <a:solidFill>
                      <a:srgbClr val="0F1E3C"/>
                    </a:solidFill>
                  </a:tcPr>
                </a:tc>
                <a:tc>
                  <a:txBody>
                    <a:bodyPr wrap="square"/>
                    <a:lstStyle/>
                    <a:p>
                      <a:r>
                        <a:rPr sz="1000" b="1">
                          <a:solidFill>
                            <a:srgbClr val="FFFFFF"/>
                          </a:solidFill>
                        </a:rPr>
                        <a:t>In the demo</a:t>
                      </a:r>
                    </a:p>
                  </a:txBody>
                  <a:tcPr>
                    <a:solidFill>
                      <a:srgbClr val="0F1E3C"/>
                    </a:solidFill>
                  </a:tcPr>
                </a:tc>
                <a:tc>
                  <a:txBody>
                    <a:bodyPr wrap="square"/>
                    <a:lstStyle/>
                    <a:p>
                      <a:r>
                        <a:rPr sz="1000" b="1">
                          <a:solidFill>
                            <a:srgbClr val="FFFFFF"/>
                          </a:solidFill>
                        </a:rPr>
                        <a:t>In production</a:t>
                      </a:r>
                    </a:p>
                  </a:txBody>
                  <a:tcPr>
                    <a:solidFill>
                      <a:srgbClr val="0F1E3C"/>
                    </a:solidFill>
                  </a:tcPr>
                </a:tc>
              </a:tr>
              <a:tr h="329184">
                <a:tc>
                  <a:txBody>
                    <a:bodyPr wrap="square"/>
                    <a:lstStyle/>
                    <a:p>
                      <a:r>
                        <a:rPr sz="1000" b="0">
                          <a:solidFill>
                            <a:srgbClr val="0F1E3C"/>
                          </a:solidFill>
                        </a:rPr>
                        <a:t>Speech recognition</a:t>
                      </a:r>
                    </a:p>
                  </a:txBody>
                  <a:tcPr>
                    <a:solidFill>
                      <a:srgbClr val="FFFFFF"/>
                    </a:solidFill>
                  </a:tcPr>
                </a:tc>
                <a:tc>
                  <a:txBody>
                    <a:bodyPr wrap="square"/>
                    <a:lstStyle/>
                    <a:p>
                      <a:r>
                        <a:rPr sz="1000" b="1">
                          <a:solidFill>
                            <a:srgbClr val="0F1E3C"/>
                          </a:solidFill>
                        </a:rPr>
                        <a:t>Real — Saaras v4, live API</a:t>
                      </a:r>
                    </a:p>
                  </a:txBody>
                  <a:tcPr>
                    <a:solidFill>
                      <a:srgbClr val="FFFFFF"/>
                    </a:solidFill>
                  </a:tcPr>
                </a:tc>
                <a:tc>
                  <a:txBody>
                    <a:bodyPr wrap="square"/>
                    <a:lstStyle/>
                    <a:p>
                      <a:r>
                        <a:rPr sz="1000" b="0">
                          <a:solidFill>
                            <a:srgbClr val="0F1E3C"/>
                          </a:solidFill>
                        </a:rPr>
                        <a:t>Same</a:t>
                      </a:r>
                    </a:p>
                  </a:txBody>
                  <a:tcPr>
                    <a:solidFill>
                      <a:srgbClr val="FFFFFF"/>
                    </a:solidFill>
                  </a:tcPr>
                </a:tc>
              </a:tr>
              <a:tr h="329184">
                <a:tc>
                  <a:txBody>
                    <a:bodyPr wrap="square"/>
                    <a:lstStyle/>
                    <a:p>
                      <a:r>
                        <a:rPr sz="1000" b="0">
                          <a:solidFill>
                            <a:srgbClr val="0F1E3C"/>
                          </a:solidFill>
                        </a:rPr>
                        <a:t>Dialogue and tool calling</a:t>
                      </a:r>
                    </a:p>
                  </a:txBody>
                  <a:tcPr>
                    <a:solidFill>
                      <a:srgbClr val="F2F5F9"/>
                    </a:solidFill>
                  </a:tcPr>
                </a:tc>
                <a:tc>
                  <a:txBody>
                    <a:bodyPr wrap="square"/>
                    <a:lstStyle/>
                    <a:p>
                      <a:r>
                        <a:rPr sz="1000" b="1">
                          <a:solidFill>
                            <a:srgbClr val="0F1E3C"/>
                          </a:solidFill>
                        </a:rPr>
                        <a:t>Real — sarvam-105b, live API</a:t>
                      </a:r>
                    </a:p>
                  </a:txBody>
                  <a:tcPr>
                    <a:solidFill>
                      <a:srgbClr val="F2F5F9"/>
                    </a:solidFill>
                  </a:tcPr>
                </a:tc>
                <a:tc>
                  <a:txBody>
                    <a:bodyPr wrap="square"/>
                    <a:lstStyle/>
                    <a:p>
                      <a:r>
                        <a:rPr sz="1000" b="0">
                          <a:solidFill>
                            <a:srgbClr val="0F1E3C"/>
                          </a:solidFill>
                        </a:rPr>
                        <a:t>Same</a:t>
                      </a:r>
                    </a:p>
                  </a:txBody>
                  <a:tcPr>
                    <a:solidFill>
                      <a:srgbClr val="F2F5F9"/>
                    </a:solidFill>
                  </a:tcPr>
                </a:tc>
              </a:tr>
              <a:tr h="329184">
                <a:tc>
                  <a:txBody>
                    <a:bodyPr wrap="square"/>
                    <a:lstStyle/>
                    <a:p>
                      <a:r>
                        <a:rPr sz="1000" b="0">
                          <a:solidFill>
                            <a:srgbClr val="0F1E3C"/>
                          </a:solidFill>
                        </a:rPr>
                        <a:t>Speech synthesis</a:t>
                      </a:r>
                    </a:p>
                  </a:txBody>
                  <a:tcPr>
                    <a:solidFill>
                      <a:srgbClr val="FFFFFF"/>
                    </a:solidFill>
                  </a:tcPr>
                </a:tc>
                <a:tc>
                  <a:txBody>
                    <a:bodyPr wrap="square"/>
                    <a:lstStyle/>
                    <a:p>
                      <a:r>
                        <a:rPr sz="1000" b="1">
                          <a:solidFill>
                            <a:srgbClr val="0F1E3C"/>
                          </a:solidFill>
                        </a:rPr>
                        <a:t>Real — Bulbul v3, live API</a:t>
                      </a:r>
                    </a:p>
                  </a:txBody>
                  <a:tcPr>
                    <a:solidFill>
                      <a:srgbClr val="FFFFFF"/>
                    </a:solidFill>
                  </a:tcPr>
                </a:tc>
                <a:tc>
                  <a:txBody>
                    <a:bodyPr wrap="square"/>
                    <a:lstStyle/>
                    <a:p>
                      <a:r>
                        <a:rPr sz="1000" b="0">
                          <a:solidFill>
                            <a:srgbClr val="0F1E3C"/>
                          </a:solidFill>
                        </a:rPr>
                        <a:t>Same, μ-law for phone lines</a:t>
                      </a:r>
                    </a:p>
                  </a:txBody>
                  <a:tcPr>
                    <a:solidFill>
                      <a:srgbClr val="FFFFFF"/>
                    </a:solidFill>
                  </a:tcPr>
                </a:tc>
              </a:tr>
              <a:tr h="329184">
                <a:tc>
                  <a:txBody>
                    <a:bodyPr wrap="square"/>
                    <a:lstStyle/>
                    <a:p>
                      <a:r>
                        <a:rPr sz="1000" b="0">
                          <a:solidFill>
                            <a:srgbClr val="0F1E3C"/>
                          </a:solidFill>
                        </a:rPr>
                        <a:t>Compliance gate and guardrails</a:t>
                      </a:r>
                    </a:p>
                  </a:txBody>
                  <a:tcPr>
                    <a:solidFill>
                      <a:srgbClr val="F2F5F9"/>
                    </a:solidFill>
                  </a:tcPr>
                </a:tc>
                <a:tc>
                  <a:txBody>
                    <a:bodyPr wrap="square"/>
                    <a:lstStyle/>
                    <a:p>
                      <a:r>
                        <a:rPr sz="1000" b="1">
                          <a:solidFill>
                            <a:srgbClr val="0F1E3C"/>
                          </a:solidFill>
                        </a:rPr>
                        <a:t>Real — full logic</a:t>
                      </a:r>
                    </a:p>
                  </a:txBody>
                  <a:tcPr>
                    <a:solidFill>
                      <a:srgbClr val="F2F5F9"/>
                    </a:solidFill>
                  </a:tcPr>
                </a:tc>
                <a:tc>
                  <a:txBody>
                    <a:bodyPr wrap="square"/>
                    <a:lstStyle/>
                    <a:p>
                      <a:r>
                        <a:rPr sz="1000" b="0">
                          <a:solidFill>
                            <a:srgbClr val="0F1E3C"/>
                          </a:solidFill>
                        </a:rPr>
                        <a:t>Same</a:t>
                      </a:r>
                    </a:p>
                  </a:txBody>
                  <a:tcPr>
                    <a:solidFill>
                      <a:srgbClr val="F2F5F9"/>
                    </a:solidFill>
                  </a:tcPr>
                </a:tc>
              </a:tr>
              <a:tr h="329184">
                <a:tc>
                  <a:txBody>
                    <a:bodyPr wrap="square"/>
                    <a:lstStyle/>
                    <a:p>
                      <a:r>
                        <a:rPr sz="1000" b="0">
                          <a:solidFill>
                            <a:srgbClr val="0F1E3C"/>
                          </a:solidFill>
                        </a:rPr>
                        <a:t>Post-call analytics</a:t>
                      </a:r>
                    </a:p>
                  </a:txBody>
                  <a:tcPr>
                    <a:solidFill>
                      <a:srgbClr val="FFFFFF"/>
                    </a:solidFill>
                  </a:tcPr>
                </a:tc>
                <a:tc>
                  <a:txBody>
                    <a:bodyPr wrap="square"/>
                    <a:lstStyle/>
                    <a:p>
                      <a:r>
                        <a:rPr sz="1000" b="1">
                          <a:solidFill>
                            <a:srgbClr val="0F1E3C"/>
                          </a:solidFill>
                        </a:rPr>
                        <a:t>Real — runs the live models</a:t>
                      </a:r>
                    </a:p>
                  </a:txBody>
                  <a:tcPr>
                    <a:solidFill>
                      <a:srgbClr val="FFFFFF"/>
                    </a:solidFill>
                  </a:tcPr>
                </a:tc>
                <a:tc>
                  <a:txBody>
                    <a:bodyPr wrap="square"/>
                    <a:lstStyle/>
                    <a:p>
                      <a:r>
                        <a:rPr sz="1000" b="0">
                          <a:solidFill>
                            <a:srgbClr val="0F1E3C"/>
                          </a:solidFill>
                        </a:rPr>
                        <a:t>Same, on a schedule</a:t>
                      </a:r>
                    </a:p>
                  </a:txBody>
                  <a:tcPr>
                    <a:solidFill>
                      <a:srgbClr val="FFFFFF"/>
                    </a:solidFill>
                  </a:tcPr>
                </a:tc>
              </a:tr>
              <a:tr h="329184">
                <a:tc>
                  <a:txBody>
                    <a:bodyPr wrap="square"/>
                    <a:lstStyle/>
                    <a:p>
                      <a:r>
                        <a:rPr sz="1000" b="0">
                          <a:solidFill>
                            <a:srgbClr val="0F1E3C"/>
                          </a:solidFill>
                        </a:rPr>
                        <a:t>Audio transport</a:t>
                      </a:r>
                    </a:p>
                  </a:txBody>
                  <a:tcPr>
                    <a:solidFill>
                      <a:srgbClr val="F2F5F9"/>
                    </a:solidFill>
                  </a:tcPr>
                </a:tc>
                <a:tc>
                  <a:txBody>
                    <a:bodyPr wrap="square"/>
                    <a:lstStyle/>
                    <a:p>
                      <a:r>
                        <a:rPr sz="1000" b="0">
                          <a:solidFill>
                            <a:srgbClr val="0F1E3C"/>
                          </a:solidFill>
                        </a:rPr>
                        <a:t>Browser microphone over WebSocket</a:t>
                      </a:r>
                    </a:p>
                  </a:txBody>
                  <a:tcPr>
                    <a:solidFill>
                      <a:srgbClr val="F2F5F9"/>
                    </a:solidFill>
                  </a:tcPr>
                </a:tc>
                <a:tc>
                  <a:txBody>
                    <a:bodyPr wrap="square"/>
                    <a:lstStyle/>
                    <a:p>
                      <a:r>
                        <a:rPr sz="1000" b="0">
                          <a:solidFill>
                            <a:srgbClr val="0F1E3C"/>
                          </a:solidFill>
                        </a:rPr>
                        <a:t>Carrier media stream, or SIP/RTP via your SBC</a:t>
                      </a:r>
                    </a:p>
                  </a:txBody>
                  <a:tcPr>
                    <a:solidFill>
                      <a:srgbClr val="F2F5F9"/>
                    </a:solidFill>
                  </a:tcPr>
                </a:tc>
              </a:tr>
              <a:tr h="329184">
                <a:tc>
                  <a:txBody>
                    <a:bodyPr wrap="square"/>
                    <a:lstStyle/>
                    <a:p>
                      <a:r>
                        <a:rPr sz="1000" b="0">
                          <a:solidFill>
                            <a:srgbClr val="0F1E3C"/>
                          </a:solidFill>
                        </a:rPr>
                        <a:t>Dialling</a:t>
                      </a:r>
                    </a:p>
                  </a:txBody>
                  <a:tcPr>
                    <a:solidFill>
                      <a:srgbClr val="FFFFFF"/>
                    </a:solidFill>
                  </a:tcPr>
                </a:tc>
                <a:tc>
                  <a:txBody>
                    <a:bodyPr wrap="square"/>
                    <a:lstStyle/>
                    <a:p>
                      <a:r>
                        <a:rPr sz="1000" b="0">
                          <a:solidFill>
                            <a:srgbClr val="0F1E3C"/>
                          </a:solidFill>
                        </a:rPr>
                        <a:t>You press a button</a:t>
                      </a:r>
                    </a:p>
                  </a:txBody>
                  <a:tcPr>
                    <a:solidFill>
                      <a:srgbClr val="FFFFFF"/>
                    </a:solidFill>
                  </a:tcPr>
                </a:tc>
                <a:tc>
                  <a:txBody>
                    <a:bodyPr wrap="square"/>
                    <a:lstStyle/>
                    <a:p>
                      <a:r>
                        <a:rPr sz="1000" b="0">
                          <a:solidFill>
                            <a:srgbClr val="0F1E3C"/>
                          </a:solidFill>
                        </a:rPr>
                        <a:t>Dialler places the call — CPaaS API or SIP INVITE</a:t>
                      </a:r>
                    </a:p>
                  </a:txBody>
                  <a:tcPr>
                    <a:solidFill>
                      <a:srgbClr val="FFFFFF"/>
                    </a:solidFill>
                  </a:tcPr>
                </a:tc>
              </a:tr>
              <a:tr h="329184">
                <a:tc>
                  <a:txBody>
                    <a:bodyPr wrap="square"/>
                    <a:lstStyle/>
                    <a:p>
                      <a:r>
                        <a:rPr sz="1000" b="0">
                          <a:solidFill>
                            <a:srgbClr val="0F1E3C"/>
                          </a:solidFill>
                        </a:rPr>
                        <a:t>Call list</a:t>
                      </a:r>
                    </a:p>
                  </a:txBody>
                  <a:tcPr>
                    <a:solidFill>
                      <a:srgbClr val="F2F5F9"/>
                    </a:solidFill>
                  </a:tcPr>
                </a:tc>
                <a:tc>
                  <a:txBody>
                    <a:bodyPr wrap="square"/>
                    <a:lstStyle/>
                    <a:p>
                      <a:r>
                        <a:rPr sz="1000" b="0">
                          <a:solidFill>
                            <a:srgbClr val="0F1E3C"/>
                          </a:solidFill>
                        </a:rPr>
                        <a:t>Excel uploaded in the UI</a:t>
                      </a:r>
                    </a:p>
                  </a:txBody>
                  <a:tcPr>
                    <a:solidFill>
                      <a:srgbClr val="F2F5F9"/>
                    </a:solidFill>
                  </a:tcPr>
                </a:tc>
                <a:tc>
                  <a:txBody>
                    <a:bodyPr wrap="square"/>
                    <a:lstStyle/>
                    <a:p>
                      <a:r>
                        <a:rPr sz="1000" b="0">
                          <a:solidFill>
                            <a:srgbClr val="0F1E3C"/>
                          </a:solidFill>
                        </a:rPr>
                        <a:t>Nightly CSV over SFTP from the LMS</a:t>
                      </a:r>
                    </a:p>
                  </a:txBody>
                  <a:tcPr>
                    <a:solidFill>
                      <a:srgbClr val="F2F5F9"/>
                    </a:solidFill>
                  </a:tcPr>
                </a:tc>
              </a:tr>
              <a:tr h="329184">
                <a:tc>
                  <a:txBody>
                    <a:bodyPr wrap="square"/>
                    <a:lstStyle/>
                    <a:p>
                      <a:r>
                        <a:rPr sz="1000" b="0">
                          <a:solidFill>
                            <a:srgbClr val="0F1E3C"/>
                          </a:solidFill>
                        </a:rPr>
                        <a:t>Payment link</a:t>
                      </a:r>
                    </a:p>
                  </a:txBody>
                  <a:tcPr>
                    <a:solidFill>
                      <a:srgbClr val="FFFFFF"/>
                    </a:solidFill>
                  </a:tcPr>
                </a:tc>
                <a:tc>
                  <a:txBody>
                    <a:bodyPr wrap="square"/>
                    <a:lstStyle/>
                    <a:p>
                      <a:r>
                        <a:rPr sz="1000" b="0">
                          <a:solidFill>
                            <a:srgbClr val="0F1E3C"/>
                          </a:solidFill>
                        </a:rPr>
                        <a:t>Deterministic placeholder URL</a:t>
                      </a:r>
                    </a:p>
                  </a:txBody>
                  <a:tcPr>
                    <a:solidFill>
                      <a:srgbClr val="FFFFFF"/>
                    </a:solidFill>
                  </a:tcPr>
                </a:tc>
                <a:tc>
                  <a:txBody>
                    <a:bodyPr wrap="square"/>
                    <a:lstStyle/>
                    <a:p>
                      <a:r>
                        <a:rPr sz="1000" b="0">
                          <a:solidFill>
                            <a:srgbClr val="0F1E3C"/>
                          </a:solidFill>
                        </a:rPr>
                        <a:t>Razorpay / Cashfree / PayU link API</a:t>
                      </a:r>
                    </a:p>
                  </a:txBody>
                  <a:tcPr>
                    <a:solidFill>
                      <a:srgbClr val="FFFFFF"/>
                    </a:solidFill>
                  </a:tcPr>
                </a:tc>
              </a:tr>
              <a:tr h="329184">
                <a:tc>
                  <a:txBody>
                    <a:bodyPr wrap="square"/>
                    <a:lstStyle/>
                    <a:p>
                      <a:r>
                        <a:rPr sz="1000" b="0">
                          <a:solidFill>
                            <a:srgbClr val="0F1E3C"/>
                          </a:solidFill>
                        </a:rPr>
                        <a:t>WhatsApp</a:t>
                      </a:r>
                    </a:p>
                  </a:txBody>
                  <a:tcPr>
                    <a:solidFill>
                      <a:srgbClr val="F2F5F9"/>
                    </a:solidFill>
                  </a:tcPr>
                </a:tc>
                <a:tc>
                  <a:txBody>
                    <a:bodyPr wrap="square"/>
                    <a:lstStyle/>
                    <a:p>
                      <a:r>
                        <a:rPr sz="1000" b="0">
                          <a:solidFill>
                            <a:srgbClr val="0F1E3C"/>
                          </a:solidFill>
                        </a:rPr>
                        <a:t>Payload logged, not sent</a:t>
                      </a:r>
                    </a:p>
                  </a:txBody>
                  <a:tcPr>
                    <a:solidFill>
                      <a:srgbClr val="F2F5F9"/>
                    </a:solidFill>
                  </a:tcPr>
                </a:tc>
                <a:tc>
                  <a:txBody>
                    <a:bodyPr wrap="square"/>
                    <a:lstStyle/>
                    <a:p>
                      <a:r>
                        <a:rPr sz="1000" b="0">
                          <a:solidFill>
                            <a:srgbClr val="0F1E3C"/>
                          </a:solidFill>
                        </a:rPr>
                        <a:t>Meta Cloud API / Gupshup, pre-approved template</a:t>
                      </a:r>
                    </a:p>
                  </a:txBody>
                  <a:tcPr>
                    <a:solidFill>
                      <a:srgbClr val="F2F5F9"/>
                    </a:solidFill>
                  </a:tcPr>
                </a:tc>
              </a:tr>
              <a:tr h="329184">
                <a:tc>
                  <a:txBody>
                    <a:bodyPr wrap="square"/>
                    <a:lstStyle/>
                    <a:p>
                      <a:r>
                        <a:rPr sz="1000" b="0">
                          <a:solidFill>
                            <a:srgbClr val="0F1E3C"/>
                          </a:solidFill>
                        </a:rPr>
                        <a:t>LMS write-back</a:t>
                      </a:r>
                    </a:p>
                  </a:txBody>
                  <a:tcPr>
                    <a:solidFill>
                      <a:srgbClr val="FFFFFF"/>
                    </a:solidFill>
                  </a:tcPr>
                </a:tc>
                <a:tc>
                  <a:txBody>
                    <a:bodyPr wrap="square"/>
                    <a:lstStyle/>
                    <a:p>
                      <a:r>
                        <a:rPr sz="1000" b="0">
                          <a:solidFill>
                            <a:srgbClr val="0F1E3C"/>
                          </a:solidFill>
                        </a:rPr>
                        <a:t>Rows in a local database</a:t>
                      </a:r>
                    </a:p>
                  </a:txBody>
                  <a:tcPr>
                    <a:solidFill>
                      <a:srgbClr val="FFFFFF"/>
                    </a:solidFill>
                  </a:tcPr>
                </a:tc>
                <a:tc>
                  <a:txBody>
                    <a:bodyPr wrap="square"/>
                    <a:lstStyle/>
                    <a:p>
                      <a:r>
                        <a:rPr sz="1000" b="0">
                          <a:solidFill>
                            <a:srgbClr val="0F1E3C"/>
                          </a:solidFill>
                        </a:rPr>
                        <a:t>REST into the LMS, or batch file over SFTP</a:t>
                      </a:r>
                    </a:p>
                  </a:txBody>
                  <a:tcPr>
                    <a:solidFill>
                      <a:srgbClr val="FFFFFF"/>
                    </a:solidFill>
                  </a:tcPr>
                </a:tc>
              </a:tr>
              <a:tr h="329184">
                <a:tc>
                  <a:txBody>
                    <a:bodyPr wrap="square"/>
                    <a:lstStyle/>
                    <a:p>
                      <a:r>
                        <a:rPr sz="1000" b="0">
                          <a:solidFill>
                            <a:srgbClr val="0F1E3C"/>
                          </a:solidFill>
                        </a:rPr>
                        <a:t>Warm transfer</a:t>
                      </a:r>
                    </a:p>
                  </a:txBody>
                  <a:tcPr>
                    <a:solidFill>
                      <a:srgbClr val="F2F5F9"/>
                    </a:solidFill>
                  </a:tcPr>
                </a:tc>
                <a:tc>
                  <a:txBody>
                    <a:bodyPr wrap="square"/>
                    <a:lstStyle/>
                    <a:p>
                      <a:r>
                        <a:rPr sz="1000" b="0">
                          <a:solidFill>
                            <a:srgbClr val="0F1E3C"/>
                          </a:solidFill>
                        </a:rPr>
                        <a:t>Escalation queued and recorded</a:t>
                      </a:r>
                    </a:p>
                  </a:txBody>
                  <a:tcPr>
                    <a:solidFill>
                      <a:srgbClr val="F2F5F9"/>
                    </a:solidFill>
                  </a:tcPr>
                </a:tc>
                <a:tc>
                  <a:txBody>
                    <a:bodyPr wrap="square"/>
                    <a:lstStyle/>
                    <a:p>
                      <a:r>
                        <a:rPr sz="1000" b="0">
                          <a:solidFill>
                            <a:srgbClr val="0F1E3C"/>
                          </a:solidFill>
                        </a:rPr>
                        <a:t>Bridged into the contact-centre queue with CTI screen-pop</a:t>
                      </a:r>
                    </a:p>
                  </a:txBody>
                  <a:tcPr>
                    <a:solidFill>
                      <a:srgbClr val="F2F5F9"/>
                    </a:solidFill>
                  </a:tcPr>
                </a:tc>
              </a:tr>
              <a:tr h="329184">
                <a:tc>
                  <a:txBody>
                    <a:bodyPr wrap="square"/>
                    <a:lstStyle/>
                    <a:p>
                      <a:r>
                        <a:rPr sz="1000" b="0">
                          <a:solidFill>
                            <a:srgbClr val="0F1E3C"/>
                          </a:solidFill>
                        </a:rPr>
                        <a:t>Database</a:t>
                      </a:r>
                    </a:p>
                  </a:txBody>
                  <a:tcPr>
                    <a:solidFill>
                      <a:srgbClr val="FFFFFF"/>
                    </a:solidFill>
                  </a:tcPr>
                </a:tc>
                <a:tc>
                  <a:txBody>
                    <a:bodyPr wrap="square"/>
                    <a:lstStyle/>
                    <a:p>
                      <a:r>
                        <a:rPr sz="1000" b="0">
                          <a:solidFill>
                            <a:srgbClr val="0F1E3C"/>
                          </a:solidFill>
                        </a:rPr>
                        <a:t>SQLite</a:t>
                      </a:r>
                    </a:p>
                  </a:txBody>
                  <a:tcPr>
                    <a:solidFill>
                      <a:srgbClr val="FFFFFF"/>
                    </a:solidFill>
                  </a:tcPr>
                </a:tc>
                <a:tc>
                  <a:txBody>
                    <a:bodyPr wrap="square"/>
                    <a:lstStyle/>
                    <a:p>
                      <a:r>
                        <a:rPr sz="1000" b="0">
                          <a:solidFill>
                            <a:srgbClr val="0F1E3C"/>
                          </a:solidFill>
                        </a:rPr>
                        <a:t>Postgres</a:t>
                      </a:r>
                    </a:p>
                  </a:txBody>
                  <a:tcPr>
                    <a:solidFill>
                      <a:srgbClr val="FFFFFF"/>
                    </a:solidFill>
                  </a:tcPr>
                </a:tc>
              </a:tr>
            </a:tbl>
          </a:graphicData>
        </a:graphic>
      </p:graphicFrame>
      <p:sp>
        <p:nvSpPr>
          <p:cNvPr id="6" name="TextBox 5"/>
          <p:cNvSpPr txBox="1"/>
          <p:nvPr/>
        </p:nvSpPr>
        <p:spPr>
          <a:xfrm>
            <a:off x="502920" y="6263640"/>
            <a:ext cx="11155680" cy="365760"/>
          </a:xfrm>
          <a:prstGeom prst="rect">
            <a:avLst/>
          </a:prstGeom>
          <a:noFill/>
        </p:spPr>
        <p:txBody>
          <a:bodyPr wrap="square" lIns="0" rIns="0" tIns="0" bIns="0">
            <a:spAutoFit/>
          </a:bodyPr>
          <a:lstStyle/>
          <a:p>
            <a:pPr algn="l">
              <a:lnSpc>
                <a:spcPct val="100000"/>
              </a:lnSpc>
            </a:pPr>
            <a:r>
              <a:rPr sz="900" b="0">
                <a:solidFill>
                  <a:srgbClr val="5A5A5A"/>
                </a:solidFill>
                <a:latin typeface="Calibri"/>
              </a:rPr>
              <a:t>The short version: every AI component is real and live. Every integration at the edges is stubbed. The middle is done; the plumbing to your systems is not.</a:t>
            </a:r>
          </a:p>
        </p:txBody>
      </p:sp>
      <p:sp>
        <p:nvSpPr>
          <p:cNvPr id="7" name="TextBox 6"/>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ARCHITECTURE 1 OF 3</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Overall solution architecture</a:t>
            </a:r>
          </a:p>
        </p:txBody>
      </p:sp>
      <p:sp>
        <p:nvSpPr>
          <p:cNvPr id="5" name="TextBox 4"/>
          <p:cNvSpPr txBox="1"/>
          <p:nvPr/>
        </p:nvSpPr>
        <p:spPr>
          <a:xfrm>
            <a:off x="502920" y="1115568"/>
            <a:ext cx="11155680" cy="274320"/>
          </a:xfrm>
          <a:prstGeom prst="rect">
            <a:avLst/>
          </a:prstGeom>
          <a:noFill/>
        </p:spPr>
        <p:txBody>
          <a:bodyPr wrap="square" lIns="0" rIns="0" tIns="0" bIns="0">
            <a:spAutoFit/>
          </a:bodyPr>
          <a:lstStyle/>
          <a:p>
            <a:pPr algn="l">
              <a:lnSpc>
                <a:spcPct val="100000"/>
              </a:lnSpc>
            </a:pPr>
            <a:r>
              <a:rPr sz="950" b="0">
                <a:solidFill>
                  <a:srgbClr val="5A5A5A"/>
                </a:solidFill>
                <a:latin typeface="Calibri"/>
              </a:rPr>
              <a:t>Left to right: the borrower's voice reaches an Indian inference plane and comes back as speech. Dashed lines are trust boundaries.</a:t>
            </a:r>
          </a:p>
        </p:txBody>
      </p:sp>
      <p:sp>
        <p:nvSpPr>
          <p:cNvPr id="6" name="Rounded Rectangle 5"/>
          <p:cNvSpPr/>
          <p:nvPr/>
        </p:nvSpPr>
        <p:spPr>
          <a:xfrm>
            <a:off x="411480" y="1417320"/>
            <a:ext cx="2331720" cy="4206240"/>
          </a:xfrm>
          <a:prstGeom prst="roundRect">
            <a:avLst/>
          </a:prstGeom>
          <a:noFill/>
          <a:ln w="15875">
            <a:solidFill>
              <a:srgbClr val="5A5A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16736"/>
            <a:ext cx="2148839"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850" b="1">
                <a:solidFill>
                  <a:srgbClr val="5A5A5A"/>
                </a:solidFill>
              </a:rPr>
              <a:t>PUBLIC / PSTN</a:t>
            </a:r>
          </a:p>
        </p:txBody>
      </p:sp>
      <p:sp>
        <p:nvSpPr>
          <p:cNvPr id="8" name="Rounded Rectangle 7"/>
          <p:cNvSpPr/>
          <p:nvPr/>
        </p:nvSpPr>
        <p:spPr>
          <a:xfrm>
            <a:off x="2880360" y="1417320"/>
            <a:ext cx="2788920" cy="4206240"/>
          </a:xfrm>
          <a:prstGeom prst="roundRect">
            <a:avLst/>
          </a:prstGeom>
          <a:noFill/>
          <a:ln w="15875">
            <a:solidFill>
              <a:srgbClr val="1F5F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71800" y="1316736"/>
            <a:ext cx="2606039"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850" b="1">
                <a:solidFill>
                  <a:srgbClr val="1F5FA8"/>
                </a:solidFill>
              </a:rPr>
              <a:t>CUSTOMER DC or VPC</a:t>
            </a:r>
          </a:p>
        </p:txBody>
      </p:sp>
      <p:sp>
        <p:nvSpPr>
          <p:cNvPr id="10" name="Rounded Rectangle 9"/>
          <p:cNvSpPr/>
          <p:nvPr/>
        </p:nvSpPr>
        <p:spPr>
          <a:xfrm>
            <a:off x="5806440" y="1417320"/>
            <a:ext cx="2880360" cy="4206240"/>
          </a:xfrm>
          <a:prstGeom prst="roundRect">
            <a:avLst/>
          </a:prstGeom>
          <a:noFill/>
          <a:ln w="15875">
            <a:solidFill>
              <a:srgbClr val="11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97879" y="1316736"/>
            <a:ext cx="2697479"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850" b="1">
                <a:solidFill>
                  <a:srgbClr val="118A8A"/>
                </a:solidFill>
              </a:rPr>
              <a:t>APPLICATION (stateless)</a:t>
            </a:r>
          </a:p>
        </p:txBody>
      </p:sp>
      <p:sp>
        <p:nvSpPr>
          <p:cNvPr id="12" name="Rounded Rectangle 11"/>
          <p:cNvSpPr/>
          <p:nvPr/>
        </p:nvSpPr>
        <p:spPr>
          <a:xfrm>
            <a:off x="8823960" y="1417320"/>
            <a:ext cx="2971800" cy="4206240"/>
          </a:xfrm>
          <a:prstGeom prst="roundRect">
            <a:avLst/>
          </a:prstGeom>
          <a:noFill/>
          <a:ln w="15875">
            <a:solidFill>
              <a:srgbClr val="1E7A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15400" y="1316736"/>
            <a:ext cx="278892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850" b="1">
                <a:solidFill>
                  <a:srgbClr val="1E7A3C"/>
                </a:solidFill>
              </a:rPr>
              <a:t>SARVAM INFERENCE (India)</a:t>
            </a:r>
          </a:p>
        </p:txBody>
      </p:sp>
      <p:sp>
        <p:nvSpPr>
          <p:cNvPr id="14" name="Rounded Rectangle 13"/>
          <p:cNvSpPr/>
          <p:nvPr/>
        </p:nvSpPr>
        <p:spPr>
          <a:xfrm>
            <a:off x="566928" y="1691640"/>
            <a:ext cx="2011680" cy="566928"/>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Borrower</a:t>
            </a:r>
          </a:p>
          <a:p>
            <a:pPr algn="ctr"/>
            <a:r>
              <a:rPr sz="800">
                <a:solidFill>
                  <a:srgbClr val="5A5A5A"/>
                </a:solidFill>
              </a:rPr>
              <a:t>mobile handset</a:t>
            </a:r>
          </a:p>
        </p:txBody>
      </p:sp>
      <p:sp>
        <p:nvSpPr>
          <p:cNvPr id="15" name="Rounded Rectangle 14"/>
          <p:cNvSpPr/>
          <p:nvPr/>
        </p:nvSpPr>
        <p:spPr>
          <a:xfrm>
            <a:off x="566928" y="2514600"/>
            <a:ext cx="2011680" cy="566928"/>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PSTN / carrier</a:t>
            </a:r>
          </a:p>
          <a:p>
            <a:pPr algn="ctr"/>
            <a:r>
              <a:rPr sz="800">
                <a:solidFill>
                  <a:srgbClr val="5A5A5A"/>
                </a:solidFill>
              </a:rPr>
              <a:t>SS7 · SIP trunk</a:t>
            </a:r>
          </a:p>
        </p:txBody>
      </p:sp>
      <p:sp>
        <p:nvSpPr>
          <p:cNvPr id="16" name="Rounded Rectangle 15"/>
          <p:cNvSpPr/>
          <p:nvPr/>
        </p:nvSpPr>
        <p:spPr>
          <a:xfrm>
            <a:off x="566928" y="3337560"/>
            <a:ext cx="2011680" cy="566928"/>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WhatsApp / SMS</a:t>
            </a:r>
          </a:p>
          <a:p>
            <a:pPr algn="ctr"/>
            <a:r>
              <a:rPr sz="800">
                <a:solidFill>
                  <a:srgbClr val="5A5A5A"/>
                </a:solidFill>
              </a:rPr>
              <a:t>payment link out</a:t>
            </a:r>
          </a:p>
        </p:txBody>
      </p:sp>
      <p:sp>
        <p:nvSpPr>
          <p:cNvPr id="17" name="Rounded Rectangle 16"/>
          <p:cNvSpPr/>
          <p:nvPr/>
        </p:nvSpPr>
        <p:spPr>
          <a:xfrm>
            <a:off x="566928" y="4160520"/>
            <a:ext cx="2011680" cy="566928"/>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Payment gateway</a:t>
            </a:r>
          </a:p>
          <a:p>
            <a:pPr algn="ctr"/>
            <a:r>
              <a:rPr sz="800">
                <a:solidFill>
                  <a:srgbClr val="5A5A5A"/>
                </a:solidFill>
              </a:rPr>
              <a:t>Razorpay · Cashfree</a:t>
            </a:r>
          </a:p>
        </p:txBody>
      </p:sp>
      <p:sp>
        <p:nvSpPr>
          <p:cNvPr id="18" name="Rounded Rectangle 17"/>
          <p:cNvSpPr/>
          <p:nvPr/>
        </p:nvSpPr>
        <p:spPr>
          <a:xfrm>
            <a:off x="3035808" y="1691640"/>
            <a:ext cx="2468880" cy="566928"/>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F5FA8"/>
                </a:solidFill>
              </a:rPr>
              <a:t>SBC</a:t>
            </a:r>
          </a:p>
          <a:p>
            <a:pPr algn="ctr"/>
            <a:r>
              <a:rPr sz="800">
                <a:solidFill>
                  <a:srgbClr val="5A5A5A"/>
                </a:solidFill>
              </a:rPr>
              <a:t>Kamailio · Asterisk
SIP-TLS 5061 · SRTP</a:t>
            </a:r>
          </a:p>
        </p:txBody>
      </p:sp>
      <p:sp>
        <p:nvSpPr>
          <p:cNvPr id="19" name="Rounded Rectangle 18"/>
          <p:cNvSpPr/>
          <p:nvPr/>
        </p:nvSpPr>
        <p:spPr>
          <a:xfrm>
            <a:off x="3035808" y="2514600"/>
            <a:ext cx="2468880" cy="566928"/>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F5FA8"/>
                </a:solidFill>
              </a:rPr>
              <a:t>Media gateway</a:t>
            </a:r>
          </a:p>
          <a:p>
            <a:pPr algn="ctr"/>
            <a:r>
              <a:rPr sz="800">
                <a:solidFill>
                  <a:srgbClr val="5A5A5A"/>
                </a:solidFill>
              </a:rPr>
              <a:t>G.711 μ-law 8 kHz
20 ms RTP frames</a:t>
            </a:r>
          </a:p>
        </p:txBody>
      </p:sp>
      <p:sp>
        <p:nvSpPr>
          <p:cNvPr id="20" name="Rounded Rectangle 19"/>
          <p:cNvSpPr/>
          <p:nvPr/>
        </p:nvSpPr>
        <p:spPr>
          <a:xfrm>
            <a:off x="3035808" y="3337560"/>
            <a:ext cx="2468880" cy="566928"/>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F5FA8"/>
                </a:solidFill>
              </a:rPr>
              <a:t>LMS / core banking</a:t>
            </a:r>
          </a:p>
          <a:p>
            <a:pPr algn="ctr"/>
            <a:r>
              <a:rPr sz="800">
                <a:solidFill>
                  <a:srgbClr val="5A5A5A"/>
                </a:solidFill>
              </a:rPr>
              <a:t>nightly CSV over SFTP
dispositions written back</a:t>
            </a:r>
          </a:p>
        </p:txBody>
      </p:sp>
      <p:sp>
        <p:nvSpPr>
          <p:cNvPr id="21" name="Rounded Rectangle 20"/>
          <p:cNvSpPr/>
          <p:nvPr/>
        </p:nvSpPr>
        <p:spPr>
          <a:xfrm>
            <a:off x="3035808" y="4160520"/>
            <a:ext cx="2468880" cy="566928"/>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F5FA8"/>
                </a:solidFill>
              </a:rPr>
              <a:t>Postgres + object store</a:t>
            </a:r>
          </a:p>
          <a:p>
            <a:pPr algn="ctr"/>
            <a:r>
              <a:rPr sz="800">
                <a:solidFill>
                  <a:srgbClr val="5A5A5A"/>
                </a:solidFill>
              </a:rPr>
              <a:t>CDR · transcripts · WORM
recordings, encrypted at rest</a:t>
            </a:r>
          </a:p>
        </p:txBody>
      </p:sp>
      <p:sp>
        <p:nvSpPr>
          <p:cNvPr id="22" name="Rounded Rectangle 21"/>
          <p:cNvSpPr/>
          <p:nvPr/>
        </p:nvSpPr>
        <p:spPr>
          <a:xfrm>
            <a:off x="5961888" y="1691640"/>
            <a:ext cx="2560320" cy="566928"/>
          </a:xfrm>
          <a:prstGeom prst="roundRect">
            <a:avLst/>
          </a:prstGeom>
          <a:solidFill>
            <a:srgbClr val="E6F3F3"/>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18A8A"/>
                </a:solidFill>
              </a:rPr>
              <a:t>Audio pipeline</a:t>
            </a:r>
          </a:p>
          <a:p>
            <a:pPr algn="ctr"/>
            <a:r>
              <a:rPr sz="800">
                <a:solidFill>
                  <a:srgbClr val="5A5A5A"/>
                </a:solidFill>
              </a:rPr>
              <a:t>μ-law decode · AGC · 8→16 kHz</a:t>
            </a:r>
          </a:p>
        </p:txBody>
      </p:sp>
      <p:sp>
        <p:nvSpPr>
          <p:cNvPr id="23" name="Rounded Rectangle 22"/>
          <p:cNvSpPr/>
          <p:nvPr/>
        </p:nvSpPr>
        <p:spPr>
          <a:xfrm>
            <a:off x="5961888" y="2514600"/>
            <a:ext cx="2560320" cy="566928"/>
          </a:xfrm>
          <a:prstGeom prst="roundRect">
            <a:avLst/>
          </a:prstGeom>
          <a:solidFill>
            <a:srgbClr val="118A8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rPr>
              <a:t>ORCHESTRATOR</a:t>
            </a:r>
          </a:p>
          <a:p>
            <a:pPr algn="ctr"/>
            <a:r>
              <a:rPr sz="800">
                <a:solidFill>
                  <a:srgbClr val="5A5A5A"/>
                </a:solidFill>
              </a:rPr>
              <a:t>turn state · barge-in · streaming</a:t>
            </a:r>
          </a:p>
        </p:txBody>
      </p:sp>
      <p:sp>
        <p:nvSpPr>
          <p:cNvPr id="24" name="Rounded Rectangle 23"/>
          <p:cNvSpPr/>
          <p:nvPr/>
        </p:nvSpPr>
        <p:spPr>
          <a:xfrm>
            <a:off x="5961888" y="3337560"/>
            <a:ext cx="2560320" cy="566928"/>
          </a:xfrm>
          <a:prstGeom prst="roundRect">
            <a:avLst/>
          </a:prstGeom>
          <a:solidFill>
            <a:srgbClr val="E6F3F3"/>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18A8A"/>
                </a:solidFill>
              </a:rPr>
              <a:t>Compliance gate + guardrails</a:t>
            </a:r>
          </a:p>
          <a:p>
            <a:pPr algn="ctr"/>
            <a:r>
              <a:rPr sz="800">
                <a:solidFill>
                  <a:srgbClr val="5A5A5A"/>
                </a:solidFill>
              </a:rPr>
              <a:t>pre-call refuse · pre-speech screen</a:t>
            </a:r>
          </a:p>
        </p:txBody>
      </p:sp>
      <p:sp>
        <p:nvSpPr>
          <p:cNvPr id="25" name="Rounded Rectangle 24"/>
          <p:cNvSpPr/>
          <p:nvPr/>
        </p:nvSpPr>
        <p:spPr>
          <a:xfrm>
            <a:off x="5961888" y="4160520"/>
            <a:ext cx="2560320" cy="566928"/>
          </a:xfrm>
          <a:prstGeom prst="roundRect">
            <a:avLst/>
          </a:prstGeom>
          <a:solidFill>
            <a:srgbClr val="E6F3F3"/>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18A8A"/>
                </a:solidFill>
              </a:rPr>
              <a:t>Tools + analytics</a:t>
            </a:r>
          </a:p>
          <a:p>
            <a:pPr algn="ctr"/>
            <a:r>
              <a:rPr sz="800">
                <a:solidFill>
                  <a:srgbClr val="5A5A5A"/>
                </a:solidFill>
              </a:rPr>
              <a:t>PTP · link · escalate · 100% QA</a:t>
            </a:r>
          </a:p>
        </p:txBody>
      </p:sp>
      <p:sp>
        <p:nvSpPr>
          <p:cNvPr id="26" name="Rounded Rectangle 25"/>
          <p:cNvSpPr/>
          <p:nvPr/>
        </p:nvSpPr>
        <p:spPr>
          <a:xfrm>
            <a:off x="8979408" y="1691640"/>
            <a:ext cx="2651760" cy="566928"/>
          </a:xfrm>
          <a:prstGeom prst="roundRect">
            <a:avLst/>
          </a:prstGeom>
          <a:solidFill>
            <a:srgbClr val="E8F3E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E7A3C"/>
                </a:solidFill>
              </a:rPr>
              <a:t>Saaras v4  ·  STT</a:t>
            </a:r>
          </a:p>
          <a:p>
            <a:pPr algn="ctr"/>
            <a:r>
              <a:rPr sz="800">
                <a:solidFill>
                  <a:srgbClr val="5A5A5A"/>
                </a:solidFill>
              </a:rPr>
              <a:t>WSS stream · server VAD · +0.89 s</a:t>
            </a:r>
          </a:p>
        </p:txBody>
      </p:sp>
      <p:sp>
        <p:nvSpPr>
          <p:cNvPr id="27" name="Rounded Rectangle 26"/>
          <p:cNvSpPr/>
          <p:nvPr/>
        </p:nvSpPr>
        <p:spPr>
          <a:xfrm>
            <a:off x="8979408" y="2514600"/>
            <a:ext cx="2651760" cy="566928"/>
          </a:xfrm>
          <a:prstGeom prst="roundRect">
            <a:avLst/>
          </a:prstGeom>
          <a:solidFill>
            <a:srgbClr val="E8F3E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E7A3C"/>
                </a:solidFill>
              </a:rPr>
              <a:t>sarvam-105b  ·  LLM</a:t>
            </a:r>
          </a:p>
          <a:p>
            <a:pPr algn="ctr"/>
            <a:r>
              <a:rPr sz="800">
                <a:solidFill>
                  <a:srgbClr val="5A5A5A"/>
                </a:solidFill>
              </a:rPr>
              <a:t>SSE tokens + tool calls · 146 ms</a:t>
            </a:r>
          </a:p>
        </p:txBody>
      </p:sp>
      <p:sp>
        <p:nvSpPr>
          <p:cNvPr id="28" name="Rounded Rectangle 27"/>
          <p:cNvSpPr/>
          <p:nvPr/>
        </p:nvSpPr>
        <p:spPr>
          <a:xfrm>
            <a:off x="8979408" y="3337560"/>
            <a:ext cx="2651760" cy="566928"/>
          </a:xfrm>
          <a:prstGeom prst="roundRect">
            <a:avLst/>
          </a:prstGeom>
          <a:solidFill>
            <a:srgbClr val="E8F3E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E7A3C"/>
                </a:solidFill>
              </a:rPr>
              <a:t>Bulbul v3  ·  TTS</a:t>
            </a:r>
          </a:p>
          <a:p>
            <a:pPr algn="ctr"/>
            <a:r>
              <a:rPr sz="800">
                <a:solidFill>
                  <a:srgbClr val="5A5A5A"/>
                </a:solidFill>
              </a:rPr>
              <a:t>WSS chunks · 378 ms first audio</a:t>
            </a:r>
          </a:p>
        </p:txBody>
      </p:sp>
      <p:sp>
        <p:nvSpPr>
          <p:cNvPr id="29" name="Rounded Rectangle 28"/>
          <p:cNvSpPr/>
          <p:nvPr/>
        </p:nvSpPr>
        <p:spPr>
          <a:xfrm>
            <a:off x="8979408" y="4160520"/>
            <a:ext cx="2651760" cy="566928"/>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6B4FA8"/>
                </a:solidFill>
              </a:rPr>
              <a:t>Knowledge / RAG</a:t>
            </a:r>
          </a:p>
          <a:p>
            <a:pPr algn="ctr"/>
            <a:r>
              <a:rPr sz="750">
                <a:solidFill>
                  <a:srgbClr val="5A5A5A"/>
                </a:solidFill>
              </a:rPr>
              <a:t>OPTIONAL — not built. FAQ grounding
for 'why has my EMI changed'</a:t>
            </a:r>
          </a:p>
        </p:txBody>
      </p:sp>
      <p:cxnSp>
        <p:nvCxnSpPr>
          <p:cNvPr id="30" name="Connector 29"/>
          <p:cNvCxnSpPr/>
          <p:nvPr/>
        </p:nvCxnSpPr>
        <p:spPr>
          <a:xfrm>
            <a:off x="2578608" y="1975104"/>
            <a:ext cx="457200" cy="0"/>
          </a:xfrm>
          <a:prstGeom prst="line">
            <a:avLst/>
          </a:prstGeom>
          <a:ln w="19050">
            <a:solidFill>
              <a:srgbClr val="5A5A5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892807" y="1773936"/>
            <a:ext cx="1828800" cy="182880"/>
          </a:xfrm>
          <a:prstGeom prst="rect">
            <a:avLst/>
          </a:prstGeom>
          <a:noFill/>
        </p:spPr>
        <p:txBody>
          <a:bodyPr wrap="square" lIns="0" rIns="0" tIns="0" bIns="0">
            <a:spAutoFit/>
          </a:bodyPr>
          <a:lstStyle/>
          <a:p>
            <a:pPr algn="ctr">
              <a:lnSpc>
                <a:spcPct val="100000"/>
              </a:lnSpc>
            </a:pPr>
            <a:r>
              <a:rPr sz="800" b="1">
                <a:solidFill>
                  <a:srgbClr val="5A5A5A"/>
                </a:solidFill>
                <a:latin typeface="Calibri"/>
              </a:rPr>
              <a:t>SIP</a:t>
            </a:r>
          </a:p>
        </p:txBody>
      </p:sp>
      <p:cxnSp>
        <p:nvCxnSpPr>
          <p:cNvPr id="32" name="Connector 31"/>
          <p:cNvCxnSpPr/>
          <p:nvPr/>
        </p:nvCxnSpPr>
        <p:spPr>
          <a:xfrm>
            <a:off x="2578608" y="2798064"/>
            <a:ext cx="457200" cy="0"/>
          </a:xfrm>
          <a:prstGeom prst="line">
            <a:avLst/>
          </a:prstGeom>
          <a:ln w="19050">
            <a:solidFill>
              <a:srgbClr val="5A5A5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892807" y="2596896"/>
            <a:ext cx="1828800" cy="182880"/>
          </a:xfrm>
          <a:prstGeom prst="rect">
            <a:avLst/>
          </a:prstGeom>
          <a:noFill/>
        </p:spPr>
        <p:txBody>
          <a:bodyPr wrap="square" lIns="0" rIns="0" tIns="0" bIns="0">
            <a:spAutoFit/>
          </a:bodyPr>
          <a:lstStyle/>
          <a:p>
            <a:pPr algn="ctr">
              <a:lnSpc>
                <a:spcPct val="100000"/>
              </a:lnSpc>
            </a:pPr>
            <a:r>
              <a:rPr sz="800" b="1">
                <a:solidFill>
                  <a:srgbClr val="5A5A5A"/>
                </a:solidFill>
                <a:latin typeface="Calibri"/>
              </a:rPr>
              <a:t>RTP</a:t>
            </a:r>
          </a:p>
        </p:txBody>
      </p:sp>
      <p:cxnSp>
        <p:nvCxnSpPr>
          <p:cNvPr id="34" name="Connector 33"/>
          <p:cNvCxnSpPr/>
          <p:nvPr/>
        </p:nvCxnSpPr>
        <p:spPr>
          <a:xfrm>
            <a:off x="5504688" y="1975104"/>
            <a:ext cx="45720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504688" y="2798064"/>
            <a:ext cx="45720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504688" y="3621024"/>
            <a:ext cx="457200" cy="822960"/>
          </a:xfrm>
          <a:prstGeom prst="line">
            <a:avLst/>
          </a:prstGeom>
          <a:ln w="19050">
            <a:solidFill>
              <a:srgbClr val="1F5FA8"/>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504688" y="4443984"/>
            <a:ext cx="457200" cy="0"/>
          </a:xfrm>
          <a:prstGeom prst="line">
            <a:avLst/>
          </a:prstGeom>
          <a:ln w="19050">
            <a:solidFill>
              <a:srgbClr val="1F5FA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522208" y="1975104"/>
            <a:ext cx="457200" cy="0"/>
          </a:xfrm>
          <a:prstGeom prst="line">
            <a:avLst/>
          </a:prstGeom>
          <a:ln w="19050">
            <a:solidFill>
              <a:srgbClr val="118A8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836408" y="1773936"/>
            <a:ext cx="1828800" cy="182880"/>
          </a:xfrm>
          <a:prstGeom prst="rect">
            <a:avLst/>
          </a:prstGeom>
          <a:noFill/>
        </p:spPr>
        <p:txBody>
          <a:bodyPr wrap="square" lIns="0" rIns="0" tIns="0" bIns="0">
            <a:spAutoFit/>
          </a:bodyPr>
          <a:lstStyle/>
          <a:p>
            <a:pPr algn="ctr">
              <a:lnSpc>
                <a:spcPct val="100000"/>
              </a:lnSpc>
            </a:pPr>
            <a:r>
              <a:rPr sz="800" b="1">
                <a:solidFill>
                  <a:srgbClr val="118A8A"/>
                </a:solidFill>
                <a:latin typeface="Calibri"/>
              </a:rPr>
              <a:t>WSS</a:t>
            </a:r>
          </a:p>
        </p:txBody>
      </p:sp>
      <p:cxnSp>
        <p:nvCxnSpPr>
          <p:cNvPr id="40" name="Connector 39"/>
          <p:cNvCxnSpPr/>
          <p:nvPr/>
        </p:nvCxnSpPr>
        <p:spPr>
          <a:xfrm>
            <a:off x="8522208" y="2798064"/>
            <a:ext cx="457200" cy="0"/>
          </a:xfrm>
          <a:prstGeom prst="line">
            <a:avLst/>
          </a:prstGeom>
          <a:ln w="19050">
            <a:solidFill>
              <a:srgbClr val="118A8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927848" y="2596896"/>
            <a:ext cx="1828800" cy="182880"/>
          </a:xfrm>
          <a:prstGeom prst="rect">
            <a:avLst/>
          </a:prstGeom>
          <a:noFill/>
        </p:spPr>
        <p:txBody>
          <a:bodyPr wrap="square" lIns="0" rIns="0" tIns="0" bIns="0">
            <a:spAutoFit/>
          </a:bodyPr>
          <a:lstStyle/>
          <a:p>
            <a:pPr algn="ctr">
              <a:lnSpc>
                <a:spcPct val="100000"/>
              </a:lnSpc>
            </a:pPr>
            <a:r>
              <a:rPr sz="800" b="1">
                <a:solidFill>
                  <a:srgbClr val="118A8A"/>
                </a:solidFill>
                <a:latin typeface="Calibri"/>
              </a:rPr>
              <a:t>HTTPS</a:t>
            </a:r>
          </a:p>
        </p:txBody>
      </p:sp>
      <p:cxnSp>
        <p:nvCxnSpPr>
          <p:cNvPr id="42" name="Connector 41"/>
          <p:cNvCxnSpPr/>
          <p:nvPr/>
        </p:nvCxnSpPr>
        <p:spPr>
          <a:xfrm>
            <a:off x="8522208" y="3017520"/>
            <a:ext cx="457200" cy="603504"/>
          </a:xfrm>
          <a:prstGeom prst="line">
            <a:avLst/>
          </a:prstGeom>
          <a:ln w="19050">
            <a:solidFill>
              <a:srgbClr val="118A8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836408" y="3355848"/>
            <a:ext cx="1828800" cy="182880"/>
          </a:xfrm>
          <a:prstGeom prst="rect">
            <a:avLst/>
          </a:prstGeom>
          <a:noFill/>
        </p:spPr>
        <p:txBody>
          <a:bodyPr wrap="square" lIns="0" rIns="0" tIns="0" bIns="0">
            <a:spAutoFit/>
          </a:bodyPr>
          <a:lstStyle/>
          <a:p>
            <a:pPr algn="ctr">
              <a:lnSpc>
                <a:spcPct val="100000"/>
              </a:lnSpc>
            </a:pPr>
            <a:r>
              <a:rPr sz="800" b="1">
                <a:solidFill>
                  <a:srgbClr val="118A8A"/>
                </a:solidFill>
                <a:latin typeface="Calibri"/>
              </a:rPr>
              <a:t>WSS</a:t>
            </a:r>
          </a:p>
        </p:txBody>
      </p:sp>
      <p:cxnSp>
        <p:nvCxnSpPr>
          <p:cNvPr id="44" name="Connector 43"/>
          <p:cNvCxnSpPr/>
          <p:nvPr/>
        </p:nvCxnSpPr>
        <p:spPr>
          <a:xfrm flipH="1" flipV="1">
            <a:off x="2578608" y="3621024"/>
            <a:ext cx="457200" cy="82296"/>
          </a:xfrm>
          <a:prstGeom prst="line">
            <a:avLst/>
          </a:prstGeom>
          <a:ln w="19050">
            <a:solidFill>
              <a:srgbClr val="5A5A5A"/>
            </a:solidFill>
            <a:prstDash val="dash"/>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11480" y="5779008"/>
            <a:ext cx="3566160" cy="237744"/>
          </a:xfrm>
          <a:prstGeom prst="roundRect">
            <a:avLst/>
          </a:prstGeom>
          <a:solidFill>
            <a:srgbClr val="E9F1FA"/>
          </a:solidFill>
          <a:ln w="6350">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1F5FA8"/>
                </a:solidFill>
              </a:rPr>
              <a:t>TLS 1.2+ everywhere · SRTP on the media leg</a:t>
            </a:r>
          </a:p>
        </p:txBody>
      </p:sp>
      <p:sp>
        <p:nvSpPr>
          <p:cNvPr id="46" name="Rounded Rectangle 45"/>
          <p:cNvSpPr/>
          <p:nvPr/>
        </p:nvSpPr>
        <p:spPr>
          <a:xfrm>
            <a:off x="4069080" y="5779008"/>
            <a:ext cx="3657600" cy="237744"/>
          </a:xfrm>
          <a:prstGeom prst="roundRect">
            <a:avLst/>
          </a:prstGeom>
          <a:solidFill>
            <a:srgbClr val="E6F3F3"/>
          </a:solidFill>
          <a:ln w="6350">
            <a:solidFill>
              <a:srgbClr val="118A8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118A8A"/>
                </a:solidFill>
              </a:rPr>
              <a:t>PII never leaves the customer zone — only text crosses</a:t>
            </a:r>
          </a:p>
        </p:txBody>
      </p:sp>
      <p:sp>
        <p:nvSpPr>
          <p:cNvPr id="47" name="Rounded Rectangle 46"/>
          <p:cNvSpPr/>
          <p:nvPr/>
        </p:nvSpPr>
        <p:spPr>
          <a:xfrm>
            <a:off x="7818120" y="5779008"/>
            <a:ext cx="3977639" cy="237744"/>
          </a:xfrm>
          <a:prstGeom prst="roundRect">
            <a:avLst/>
          </a:prstGeom>
          <a:solidFill>
            <a:srgbClr val="E8F3E9"/>
          </a:solidFill>
          <a:ln w="635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1E7A3C"/>
                </a:solidFill>
              </a:rPr>
              <a:t>Inference in India, not a US hyperscaler</a:t>
            </a:r>
          </a:p>
        </p:txBody>
      </p:sp>
      <p:sp>
        <p:nvSpPr>
          <p:cNvPr id="48" name="TextBox 47"/>
          <p:cNvSpPr txBox="1"/>
          <p:nvPr/>
        </p:nvSpPr>
        <p:spPr>
          <a:xfrm>
            <a:off x="411480" y="6172200"/>
            <a:ext cx="11338560" cy="457200"/>
          </a:xfrm>
          <a:prstGeom prst="rect">
            <a:avLst/>
          </a:prstGeom>
          <a:noFill/>
        </p:spPr>
        <p:txBody>
          <a:bodyPr wrap="square" lIns="0" rIns="0" tIns="0" bIns="0">
            <a:spAutoFit/>
          </a:bodyPr>
          <a:lstStyle/>
          <a:p>
            <a:pPr algn="l">
              <a:lnSpc>
                <a:spcPct val="100000"/>
              </a:lnSpc>
            </a:pPr>
            <a:r>
              <a:rPr sz="850" b="0">
                <a:solidFill>
                  <a:srgbClr val="5A5A5A"/>
                </a:solidFill>
                <a:latin typeface="Calibri"/>
              </a:rPr>
              <a:t>RAG is drawn because it is the obvious next component, and marked OPTIONAL because it is not built. Today every fact the agent states comes from the loan record injected into the prompt — which is why it cannot invent a number.</a:t>
            </a:r>
          </a:p>
        </p:txBody>
      </p:sp>
      <p:sp>
        <p:nvSpPr>
          <p:cNvPr id="49" name="TextBox 48"/>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ARCHITECTURE 2 OF 3</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Telephony: SIP signalling and RTP media</a:t>
            </a:r>
          </a:p>
        </p:txBody>
      </p:sp>
      <p:sp>
        <p:nvSpPr>
          <p:cNvPr id="5" name="TextBox 4"/>
          <p:cNvSpPr txBox="1"/>
          <p:nvPr/>
        </p:nvSpPr>
        <p:spPr>
          <a:xfrm>
            <a:off x="502920" y="1115568"/>
            <a:ext cx="11155680" cy="274320"/>
          </a:xfrm>
          <a:prstGeom prst="rect">
            <a:avLst/>
          </a:prstGeom>
          <a:noFill/>
        </p:spPr>
        <p:txBody>
          <a:bodyPr wrap="square" lIns="0" rIns="0" tIns="0" bIns="0">
            <a:spAutoFit/>
          </a:bodyPr>
          <a:lstStyle/>
          <a:p>
            <a:pPr algn="l">
              <a:lnSpc>
                <a:spcPct val="100000"/>
              </a:lnSpc>
            </a:pPr>
            <a:r>
              <a:rPr sz="950" b="0">
                <a:solidFill>
                  <a:srgbClr val="5A5A5A"/>
                </a:solidFill>
                <a:latin typeface="Calibri"/>
              </a:rPr>
              <a:t>Two separate paths. SIP sets the call up and tears it down; RTP carries the audio and never touches the signalling plane.</a:t>
            </a:r>
          </a:p>
        </p:txBody>
      </p:sp>
      <p:sp>
        <p:nvSpPr>
          <p:cNvPr id="6" name="TextBox 5"/>
          <p:cNvSpPr txBox="1"/>
          <p:nvPr/>
        </p:nvSpPr>
        <p:spPr>
          <a:xfrm>
            <a:off x="457200" y="1280160"/>
            <a:ext cx="5486400" cy="228600"/>
          </a:xfrm>
          <a:prstGeom prst="rect">
            <a:avLst/>
          </a:prstGeom>
          <a:noFill/>
        </p:spPr>
        <p:txBody>
          <a:bodyPr wrap="square" lIns="0" rIns="0" tIns="0" bIns="0">
            <a:spAutoFit/>
          </a:bodyPr>
          <a:lstStyle/>
          <a:p>
            <a:pPr algn="l">
              <a:lnSpc>
                <a:spcPct val="100000"/>
              </a:lnSpc>
            </a:pPr>
            <a:r>
              <a:rPr sz="1100" b="1">
                <a:solidFill>
                  <a:srgbClr val="1F5FA8"/>
                </a:solidFill>
                <a:latin typeface="Calibri"/>
              </a:rPr>
              <a:t>SIP — signalling  (TCP/TLS 5061)</a:t>
            </a:r>
          </a:p>
        </p:txBody>
      </p:sp>
      <p:sp>
        <p:nvSpPr>
          <p:cNvPr id="7" name="Rounded Rectangle 6"/>
          <p:cNvSpPr/>
          <p:nvPr/>
        </p:nvSpPr>
        <p:spPr>
          <a:xfrm>
            <a:off x="685800" y="1572768"/>
            <a:ext cx="1417320" cy="411480"/>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Carrier
SBC</a:t>
            </a:r>
          </a:p>
        </p:txBody>
      </p:sp>
      <p:cxnSp>
        <p:nvCxnSpPr>
          <p:cNvPr id="8" name="Connector 7"/>
          <p:cNvCxnSpPr/>
          <p:nvPr/>
        </p:nvCxnSpPr>
        <p:spPr>
          <a:xfrm>
            <a:off x="1394460" y="1984248"/>
            <a:ext cx="0" cy="1993391"/>
          </a:xfrm>
          <a:prstGeom prst="line">
            <a:avLst/>
          </a:prstGeom>
          <a:ln w="9525">
            <a:solidFill>
              <a:srgbClr val="C2CEDE"/>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06040" y="1572768"/>
            <a:ext cx="1417320" cy="411480"/>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Your SBC</a:t>
            </a:r>
          </a:p>
        </p:txBody>
      </p:sp>
      <p:cxnSp>
        <p:nvCxnSpPr>
          <p:cNvPr id="10" name="Connector 9"/>
          <p:cNvCxnSpPr/>
          <p:nvPr/>
        </p:nvCxnSpPr>
        <p:spPr>
          <a:xfrm>
            <a:off x="3314700" y="1984248"/>
            <a:ext cx="0" cy="1993391"/>
          </a:xfrm>
          <a:prstGeom prst="line">
            <a:avLst/>
          </a:prstGeom>
          <a:ln w="9525">
            <a:solidFill>
              <a:srgbClr val="C2CEDE"/>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526280" y="1572768"/>
            <a:ext cx="1417320" cy="411480"/>
          </a:xfrm>
          <a:prstGeom prst="roundRect">
            <a:avLst/>
          </a:prstGeom>
          <a:solidFill>
            <a:srgbClr val="E9F1FA"/>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App</a:t>
            </a:r>
          </a:p>
        </p:txBody>
      </p:sp>
      <p:cxnSp>
        <p:nvCxnSpPr>
          <p:cNvPr id="12" name="Connector 11"/>
          <p:cNvCxnSpPr/>
          <p:nvPr/>
        </p:nvCxnSpPr>
        <p:spPr>
          <a:xfrm>
            <a:off x="5234940" y="1984248"/>
            <a:ext cx="0" cy="1993391"/>
          </a:xfrm>
          <a:prstGeom prst="line">
            <a:avLst/>
          </a:prstGeom>
          <a:ln w="9525">
            <a:solidFill>
              <a:srgbClr val="C2CEDE"/>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99032" y="2148840"/>
            <a:ext cx="192024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1929384"/>
            <a:ext cx="329184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INVITE  (SDP offer)</a:t>
            </a:r>
          </a:p>
        </p:txBody>
      </p:sp>
      <p:cxnSp>
        <p:nvCxnSpPr>
          <p:cNvPr id="15" name="Connector 14"/>
          <p:cNvCxnSpPr/>
          <p:nvPr/>
        </p:nvCxnSpPr>
        <p:spPr>
          <a:xfrm flipH="1">
            <a:off x="1399032" y="2395728"/>
            <a:ext cx="192024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14400" y="2176272"/>
            <a:ext cx="329184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100 Trying</a:t>
            </a:r>
          </a:p>
        </p:txBody>
      </p:sp>
      <p:cxnSp>
        <p:nvCxnSpPr>
          <p:cNvPr id="17" name="Connector 16"/>
          <p:cNvCxnSpPr/>
          <p:nvPr/>
        </p:nvCxnSpPr>
        <p:spPr>
          <a:xfrm flipH="1">
            <a:off x="1399032" y="2642616"/>
            <a:ext cx="192024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14400" y="2423160"/>
            <a:ext cx="329184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180 Ringing</a:t>
            </a:r>
          </a:p>
        </p:txBody>
      </p:sp>
      <p:cxnSp>
        <p:nvCxnSpPr>
          <p:cNvPr id="19" name="Connector 18"/>
          <p:cNvCxnSpPr/>
          <p:nvPr/>
        </p:nvCxnSpPr>
        <p:spPr>
          <a:xfrm flipH="1">
            <a:off x="1399032" y="2889504"/>
            <a:ext cx="192024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4400" y="2670048"/>
            <a:ext cx="329184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200 OK  (SDP answer)</a:t>
            </a:r>
          </a:p>
        </p:txBody>
      </p:sp>
      <p:cxnSp>
        <p:nvCxnSpPr>
          <p:cNvPr id="21" name="Connector 20"/>
          <p:cNvCxnSpPr/>
          <p:nvPr/>
        </p:nvCxnSpPr>
        <p:spPr>
          <a:xfrm>
            <a:off x="1399032" y="3136392"/>
            <a:ext cx="192024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2916936"/>
            <a:ext cx="329184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ACK</a:t>
            </a:r>
          </a:p>
        </p:txBody>
      </p:sp>
      <p:sp>
        <p:nvSpPr>
          <p:cNvPr id="23" name="TextBox 22"/>
          <p:cNvSpPr txBox="1"/>
          <p:nvPr/>
        </p:nvSpPr>
        <p:spPr>
          <a:xfrm>
            <a:off x="685800" y="3383280"/>
            <a:ext cx="5029200" cy="201168"/>
          </a:xfrm>
          <a:prstGeom prst="rect">
            <a:avLst/>
          </a:prstGeom>
          <a:noFill/>
        </p:spPr>
        <p:txBody>
          <a:bodyPr wrap="square" lIns="0" rIns="0" tIns="0" bIns="0">
            <a:spAutoFit/>
          </a:bodyPr>
          <a:lstStyle/>
          <a:p>
            <a:pPr algn="ctr">
              <a:lnSpc>
                <a:spcPct val="100000"/>
              </a:lnSpc>
            </a:pPr>
            <a:r>
              <a:rPr sz="850" b="1">
                <a:solidFill>
                  <a:srgbClr val="1E7A3C"/>
                </a:solidFill>
                <a:latin typeface="Calibri"/>
              </a:rPr>
              <a:t>…  RTP media flows  …</a:t>
            </a:r>
          </a:p>
        </p:txBody>
      </p:sp>
      <p:cxnSp>
        <p:nvCxnSpPr>
          <p:cNvPr id="24" name="Connector 23"/>
          <p:cNvCxnSpPr/>
          <p:nvPr/>
        </p:nvCxnSpPr>
        <p:spPr>
          <a:xfrm>
            <a:off x="1399032" y="3703320"/>
            <a:ext cx="1920240"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14400" y="3483863"/>
            <a:ext cx="329184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BYE  /  200 OK</a:t>
            </a:r>
          </a:p>
        </p:txBody>
      </p:sp>
      <p:cxnSp>
        <p:nvCxnSpPr>
          <p:cNvPr id="26" name="Connector 25"/>
          <p:cNvCxnSpPr/>
          <p:nvPr/>
        </p:nvCxnSpPr>
        <p:spPr>
          <a:xfrm>
            <a:off x="4023360" y="2889504"/>
            <a:ext cx="1207008" cy="0"/>
          </a:xfrm>
          <a:prstGeom prst="line">
            <a:avLst/>
          </a:prstGeom>
          <a:ln w="19050">
            <a:solidFill>
              <a:srgbClr val="1F5FA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31920" y="2679192"/>
            <a:ext cx="1417320" cy="182880"/>
          </a:xfrm>
          <a:prstGeom prst="rect">
            <a:avLst/>
          </a:prstGeom>
          <a:noFill/>
        </p:spPr>
        <p:txBody>
          <a:bodyPr wrap="square" lIns="0" rIns="0" tIns="0" bIns="0">
            <a:spAutoFit/>
          </a:bodyPr>
          <a:lstStyle/>
          <a:p>
            <a:pPr algn="ctr">
              <a:lnSpc>
                <a:spcPct val="100000"/>
              </a:lnSpc>
            </a:pPr>
            <a:r>
              <a:rPr sz="800" b="0">
                <a:solidFill>
                  <a:srgbClr val="0F1E3C"/>
                </a:solidFill>
                <a:latin typeface="Calibri"/>
              </a:rPr>
              <a:t>call started</a:t>
            </a:r>
          </a:p>
        </p:txBody>
      </p:sp>
      <p:sp>
        <p:nvSpPr>
          <p:cNvPr id="28" name="TextBox 27"/>
          <p:cNvSpPr txBox="1"/>
          <p:nvPr/>
        </p:nvSpPr>
        <p:spPr>
          <a:xfrm>
            <a:off x="6309360" y="1280160"/>
            <a:ext cx="5486400" cy="228600"/>
          </a:xfrm>
          <a:prstGeom prst="rect">
            <a:avLst/>
          </a:prstGeom>
          <a:noFill/>
        </p:spPr>
        <p:txBody>
          <a:bodyPr wrap="square" lIns="0" rIns="0" tIns="0" bIns="0">
            <a:spAutoFit/>
          </a:bodyPr>
          <a:lstStyle/>
          <a:p>
            <a:pPr algn="l">
              <a:lnSpc>
                <a:spcPct val="100000"/>
              </a:lnSpc>
            </a:pPr>
            <a:r>
              <a:rPr sz="1100" b="1">
                <a:solidFill>
                  <a:srgbClr val="118A8A"/>
                </a:solidFill>
                <a:latin typeface="Calibri"/>
              </a:rPr>
              <a:t>RTP — media  (UDP 10000–20000, SRTP)</a:t>
            </a:r>
          </a:p>
        </p:txBody>
      </p:sp>
      <p:sp>
        <p:nvSpPr>
          <p:cNvPr id="29" name="Rounded Rectangle 28"/>
          <p:cNvSpPr/>
          <p:nvPr/>
        </p:nvSpPr>
        <p:spPr>
          <a:xfrm>
            <a:off x="6309360" y="1572768"/>
            <a:ext cx="5440680" cy="685800"/>
          </a:xfrm>
          <a:prstGeom prst="roundRect">
            <a:avLst/>
          </a:prstGeom>
          <a:solidFill>
            <a:srgbClr val="E6F3F3"/>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118A8A"/>
                </a:solidFill>
              </a:rPr>
              <a:t>One RTP packet, every 20 ms</a:t>
            </a:r>
          </a:p>
          <a:p>
            <a:pPr algn="ctr"/>
            <a:r>
              <a:rPr sz="850">
                <a:solidFill>
                  <a:srgbClr val="5A5A5A"/>
                </a:solidFill>
              </a:rPr>
              <a:t>12-byte RTP header  +  160 bytes G.711 μ-law payload  =  172 bytes on the wire
50 packets/second in each direction</a:t>
            </a:r>
          </a:p>
        </p:txBody>
      </p:sp>
      <p:sp>
        <p:nvSpPr>
          <p:cNvPr id="30" name="Rounded Rectangle 29"/>
          <p:cNvSpPr/>
          <p:nvPr/>
        </p:nvSpPr>
        <p:spPr>
          <a:xfrm>
            <a:off x="6309360" y="2423160"/>
            <a:ext cx="1051560" cy="45720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18A8A"/>
                </a:solidFill>
              </a:rPr>
              <a:t>Inbound</a:t>
            </a:r>
          </a:p>
        </p:txBody>
      </p:sp>
      <p:sp>
        <p:nvSpPr>
          <p:cNvPr id="31" name="Rounded Rectangle 30"/>
          <p:cNvSpPr/>
          <p:nvPr/>
        </p:nvSpPr>
        <p:spPr>
          <a:xfrm>
            <a:off x="7452360" y="2423160"/>
            <a:ext cx="4297680" cy="45720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
            </a:r>
          </a:p>
        </p:txBody>
      </p:sp>
      <p:sp>
        <p:nvSpPr>
          <p:cNvPr id="32" name="TextBox 31"/>
          <p:cNvSpPr txBox="1"/>
          <p:nvPr/>
        </p:nvSpPr>
        <p:spPr>
          <a:xfrm>
            <a:off x="7543800" y="2496312"/>
            <a:ext cx="4114800" cy="365760"/>
          </a:xfrm>
          <a:prstGeom prst="rect">
            <a:avLst/>
          </a:prstGeom>
          <a:noFill/>
        </p:spPr>
        <p:txBody>
          <a:bodyPr wrap="square" lIns="0" rIns="0" tIns="0" bIns="0">
            <a:spAutoFit/>
          </a:bodyPr>
          <a:lstStyle/>
          <a:p>
            <a:pPr algn="l">
              <a:lnSpc>
                <a:spcPct val="115000"/>
              </a:lnSpc>
            </a:pPr>
            <a:r>
              <a:rPr sz="800" b="0">
                <a:solidFill>
                  <a:srgbClr val="0F1E3C"/>
                </a:solidFill>
                <a:latin typeface="Calibri"/>
              </a:rPr>
              <a:t>μ-law decode → high-pass + AGC → resample 8→16 kHz → batch to 100 ms → Saaras WSS</a:t>
            </a:r>
          </a:p>
        </p:txBody>
      </p:sp>
      <p:sp>
        <p:nvSpPr>
          <p:cNvPr id="33" name="Rounded Rectangle 32"/>
          <p:cNvSpPr/>
          <p:nvPr/>
        </p:nvSpPr>
        <p:spPr>
          <a:xfrm>
            <a:off x="6309360" y="2990088"/>
            <a:ext cx="1051560" cy="45720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E7A3C"/>
                </a:solidFill>
              </a:rPr>
              <a:t>Outbound</a:t>
            </a:r>
          </a:p>
        </p:txBody>
      </p:sp>
      <p:sp>
        <p:nvSpPr>
          <p:cNvPr id="34" name="Rounded Rectangle 33"/>
          <p:cNvSpPr/>
          <p:nvPr/>
        </p:nvSpPr>
        <p:spPr>
          <a:xfrm>
            <a:off x="7452360" y="2990088"/>
            <a:ext cx="4297680" cy="45720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
            </a:r>
          </a:p>
        </p:txBody>
      </p:sp>
      <p:sp>
        <p:nvSpPr>
          <p:cNvPr id="35" name="TextBox 34"/>
          <p:cNvSpPr txBox="1"/>
          <p:nvPr/>
        </p:nvSpPr>
        <p:spPr>
          <a:xfrm>
            <a:off x="7543800" y="3063240"/>
            <a:ext cx="4114800" cy="365760"/>
          </a:xfrm>
          <a:prstGeom prst="rect">
            <a:avLst/>
          </a:prstGeom>
          <a:noFill/>
        </p:spPr>
        <p:txBody>
          <a:bodyPr wrap="square" lIns="0" rIns="0" tIns="0" bIns="0">
            <a:spAutoFit/>
          </a:bodyPr>
          <a:lstStyle/>
          <a:p>
            <a:pPr algn="l">
              <a:lnSpc>
                <a:spcPct val="115000"/>
              </a:lnSpc>
            </a:pPr>
            <a:r>
              <a:rPr sz="800" b="0">
                <a:solidFill>
                  <a:srgbClr val="0F1E3C"/>
                </a:solidFill>
                <a:latin typeface="Calibri"/>
              </a:rPr>
              <a:t>Bulbul emits μ-law at 8 kHz natively → straight into RTP payloads, no transcode</a:t>
            </a:r>
          </a:p>
        </p:txBody>
      </p:sp>
      <p:sp>
        <p:nvSpPr>
          <p:cNvPr id="36" name="Rounded Rectangle 35"/>
          <p:cNvSpPr/>
          <p:nvPr/>
        </p:nvSpPr>
        <p:spPr>
          <a:xfrm>
            <a:off x="6309360" y="3557015"/>
            <a:ext cx="1051560" cy="45720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B87A1A"/>
                </a:solidFill>
              </a:rPr>
              <a:t>Barge-in</a:t>
            </a:r>
          </a:p>
        </p:txBody>
      </p:sp>
      <p:sp>
        <p:nvSpPr>
          <p:cNvPr id="37" name="Rounded Rectangle 36"/>
          <p:cNvSpPr/>
          <p:nvPr/>
        </p:nvSpPr>
        <p:spPr>
          <a:xfrm>
            <a:off x="7452360" y="3557015"/>
            <a:ext cx="4297680" cy="45720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0F1E3C"/>
                </a:solidFill>
              </a:rPr>
              <a:t/>
            </a:r>
          </a:p>
        </p:txBody>
      </p:sp>
      <p:sp>
        <p:nvSpPr>
          <p:cNvPr id="38" name="TextBox 37"/>
          <p:cNvSpPr txBox="1"/>
          <p:nvPr/>
        </p:nvSpPr>
        <p:spPr>
          <a:xfrm>
            <a:off x="7543800" y="3630168"/>
            <a:ext cx="4114800" cy="365760"/>
          </a:xfrm>
          <a:prstGeom prst="rect">
            <a:avLst/>
          </a:prstGeom>
          <a:noFill/>
        </p:spPr>
        <p:txBody>
          <a:bodyPr wrap="square" lIns="0" rIns="0" tIns="0" bIns="0">
            <a:spAutoFit/>
          </a:bodyPr>
          <a:lstStyle/>
          <a:p>
            <a:pPr algn="l">
              <a:lnSpc>
                <a:spcPct val="115000"/>
              </a:lnSpc>
            </a:pPr>
            <a:r>
              <a:rPr sz="800" b="0">
                <a:solidFill>
                  <a:srgbClr val="0F1E3C"/>
                </a:solidFill>
                <a:latin typeface="Calibri"/>
              </a:rPr>
              <a:t>cancel LLM stream · clear TTS socket · send the carrier's buffer-clear message</a:t>
            </a:r>
          </a:p>
        </p:txBody>
      </p:sp>
      <p:sp>
        <p:nvSpPr>
          <p:cNvPr id="39" name="Rounded Rectangle 38"/>
          <p:cNvSpPr/>
          <p:nvPr/>
        </p:nvSpPr>
        <p:spPr>
          <a:xfrm>
            <a:off x="6309360" y="4160520"/>
            <a:ext cx="5440680" cy="658368"/>
          </a:xfrm>
          <a:prstGeom prst="roundRect">
            <a:avLst/>
          </a:prstGeom>
          <a:solidFill>
            <a:srgbClr val="FDEEEE"/>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B12A2A"/>
                </a:solidFill>
              </a:rPr>
              <a:t>Why G.711 and not G.729</a:t>
            </a:r>
          </a:p>
          <a:p>
            <a:pPr algn="ctr"/>
            <a:r>
              <a:rPr sz="850">
                <a:solidFill>
                  <a:srgbClr val="5A5A5A"/>
                </a:solidFill>
              </a:rPr>
              <a:t>G.729 compresses to ~8 kbit/s and discards spectral detail that Indian-language
phonemes depend on. Word error rate climbs, and a wrong transcript costs a whole call.</a:t>
            </a:r>
          </a:p>
        </p:txBody>
      </p:sp>
      <p:sp>
        <p:nvSpPr>
          <p:cNvPr id="40" name="Rounded Rectangle 39"/>
          <p:cNvSpPr/>
          <p:nvPr/>
        </p:nvSpPr>
        <p:spPr>
          <a:xfrm>
            <a:off x="411480" y="4983480"/>
            <a:ext cx="11384280" cy="1051560"/>
          </a:xfrm>
          <a:prstGeom prst="roundRect">
            <a:avLst/>
          </a:prstGeom>
          <a:noFill/>
          <a:ln w="15875">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4882896"/>
            <a:ext cx="3108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850" b="1">
                <a:solidFill>
                  <a:srgbClr val="0F1E3C"/>
                </a:solidFill>
              </a:rPr>
              <a:t>WHAT TO PUT IN THE TRUNK REQUIREMENT</a:t>
            </a:r>
          </a:p>
        </p:txBody>
      </p:sp>
      <p:sp>
        <p:nvSpPr>
          <p:cNvPr id="42" name="Rounded Rectangle 41"/>
          <p:cNvSpPr/>
          <p:nvPr/>
        </p:nvSpPr>
        <p:spPr>
          <a:xfrm>
            <a:off x="548640" y="5193792"/>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SIP-TLS on 5061</a:t>
            </a:r>
          </a:p>
        </p:txBody>
      </p:sp>
      <p:sp>
        <p:nvSpPr>
          <p:cNvPr id="43" name="Rounded Rectangle 42"/>
          <p:cNvSpPr/>
          <p:nvPr/>
        </p:nvSpPr>
        <p:spPr>
          <a:xfrm>
            <a:off x="3337560" y="5193792"/>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SRTP for media</a:t>
            </a:r>
          </a:p>
        </p:txBody>
      </p:sp>
      <p:sp>
        <p:nvSpPr>
          <p:cNvPr id="44" name="Rounded Rectangle 43"/>
          <p:cNvSpPr/>
          <p:nvPr/>
        </p:nvSpPr>
        <p:spPr>
          <a:xfrm>
            <a:off x="6126479" y="5193792"/>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G.711 μ-law only</a:t>
            </a:r>
          </a:p>
        </p:txBody>
      </p:sp>
      <p:sp>
        <p:nvSpPr>
          <p:cNvPr id="45" name="Rounded Rectangle 44"/>
          <p:cNvSpPr/>
          <p:nvPr/>
        </p:nvSpPr>
        <p:spPr>
          <a:xfrm>
            <a:off x="8915399" y="5193792"/>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RTP 10000–20000/UDP symmetric</a:t>
            </a:r>
          </a:p>
        </p:txBody>
      </p:sp>
      <p:sp>
        <p:nvSpPr>
          <p:cNvPr id="46" name="Rounded Rectangle 45"/>
          <p:cNvSpPr/>
          <p:nvPr/>
        </p:nvSpPr>
        <p:spPr>
          <a:xfrm>
            <a:off x="548640" y="5504688"/>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carrier whitelists SBC IP</a:t>
            </a:r>
          </a:p>
        </p:txBody>
      </p:sp>
      <p:sp>
        <p:nvSpPr>
          <p:cNvPr id="47" name="Rounded Rectangle 46"/>
          <p:cNvSpPr/>
          <p:nvPr/>
        </p:nvSpPr>
        <p:spPr>
          <a:xfrm>
            <a:off x="3337560" y="5504688"/>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DTMF as RFC 2833</a:t>
            </a:r>
          </a:p>
        </p:txBody>
      </p:sp>
      <p:sp>
        <p:nvSpPr>
          <p:cNvPr id="48" name="Rounded Rectangle 47"/>
          <p:cNvSpPr/>
          <p:nvPr/>
        </p:nvSpPr>
        <p:spPr>
          <a:xfrm>
            <a:off x="6126479" y="5504688"/>
            <a:ext cx="2651760" cy="237744"/>
          </a:xfrm>
          <a:prstGeom prst="roundRect">
            <a:avLst/>
          </a:prstGeom>
          <a:solidFill>
            <a:srgbClr val="F2F5F9"/>
          </a:solidFill>
          <a:ln w="6350">
            <a:solidFill>
              <a:srgbClr val="0F1E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800" b="1">
                <a:solidFill>
                  <a:srgbClr val="0F1E3C"/>
                </a:solidFill>
              </a:rPr>
              <a:t>SBC handles NAT</a:t>
            </a:r>
          </a:p>
        </p:txBody>
      </p:sp>
      <p:sp>
        <p:nvSpPr>
          <p:cNvPr id="49" name="TextBox 48"/>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ARCHITECTURE 3 OF 3</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Cloud, hybrid and on-premise</a:t>
            </a:r>
          </a:p>
        </p:txBody>
      </p:sp>
      <p:sp>
        <p:nvSpPr>
          <p:cNvPr id="5" name="TextBox 4"/>
          <p:cNvSpPr txBox="1"/>
          <p:nvPr/>
        </p:nvSpPr>
        <p:spPr>
          <a:xfrm>
            <a:off x="502920" y="1115568"/>
            <a:ext cx="11155680" cy="274320"/>
          </a:xfrm>
          <a:prstGeom prst="rect">
            <a:avLst/>
          </a:prstGeom>
          <a:noFill/>
        </p:spPr>
        <p:txBody>
          <a:bodyPr wrap="square" lIns="0" rIns="0" tIns="0" bIns="0">
            <a:spAutoFit/>
          </a:bodyPr>
          <a:lstStyle/>
          <a:p>
            <a:pPr algn="l">
              <a:lnSpc>
                <a:spcPct val="100000"/>
              </a:lnSpc>
            </a:pPr>
            <a:r>
              <a:rPr sz="950" b="0">
                <a:solidFill>
                  <a:srgbClr val="5A5A5A"/>
                </a:solidFill>
                <a:latin typeface="Calibri"/>
              </a:rPr>
              <a:t>The application is the same stateless service in all three. What changes is where the audio lives and what crosses the boundary.</a:t>
            </a:r>
          </a:p>
        </p:txBody>
      </p:sp>
      <p:sp>
        <p:nvSpPr>
          <p:cNvPr id="6" name="Rounded Rectangle 5"/>
          <p:cNvSpPr/>
          <p:nvPr/>
        </p:nvSpPr>
        <p:spPr>
          <a:xfrm>
            <a:off x="411480" y="1371600"/>
            <a:ext cx="3703320" cy="457200"/>
          </a:xfrm>
          <a:prstGeom prst="round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CLOUD</a:t>
            </a:r>
          </a:p>
        </p:txBody>
      </p:sp>
      <p:sp>
        <p:nvSpPr>
          <p:cNvPr id="7" name="Rounded Rectangle 6"/>
          <p:cNvSpPr/>
          <p:nvPr/>
        </p:nvSpPr>
        <p:spPr>
          <a:xfrm>
            <a:off x="411480" y="1965960"/>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Carrier</a:t>
            </a:r>
          </a:p>
        </p:txBody>
      </p:sp>
      <p:sp>
        <p:nvSpPr>
          <p:cNvPr id="8" name="Rounded Rectangle 7"/>
          <p:cNvSpPr/>
          <p:nvPr/>
        </p:nvSpPr>
        <p:spPr>
          <a:xfrm>
            <a:off x="1508760" y="1965960"/>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CPaaS cloud</a:t>
            </a:r>
          </a:p>
        </p:txBody>
      </p:sp>
      <p:cxnSp>
        <p:nvCxnSpPr>
          <p:cNvPr id="9" name="Connector 8"/>
          <p:cNvCxnSpPr/>
          <p:nvPr/>
        </p:nvCxnSpPr>
        <p:spPr>
          <a:xfrm>
            <a:off x="2788920" y="2468880"/>
            <a:ext cx="0" cy="100584"/>
          </a:xfrm>
          <a:prstGeom prst="line">
            <a:avLst/>
          </a:prstGeom>
          <a:ln w="15875">
            <a:solidFill>
              <a:srgbClr val="1F5FA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11480" y="2569464"/>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Media</a:t>
            </a:r>
          </a:p>
        </p:txBody>
      </p:sp>
      <p:sp>
        <p:nvSpPr>
          <p:cNvPr id="11" name="Rounded Rectangle 10"/>
          <p:cNvSpPr/>
          <p:nvPr/>
        </p:nvSpPr>
        <p:spPr>
          <a:xfrm>
            <a:off x="1508760" y="2569464"/>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transits CPaaS</a:t>
            </a:r>
          </a:p>
        </p:txBody>
      </p:sp>
      <p:cxnSp>
        <p:nvCxnSpPr>
          <p:cNvPr id="12" name="Connector 11"/>
          <p:cNvCxnSpPr/>
          <p:nvPr/>
        </p:nvCxnSpPr>
        <p:spPr>
          <a:xfrm>
            <a:off x="2788920" y="3072384"/>
            <a:ext cx="0" cy="100584"/>
          </a:xfrm>
          <a:prstGeom prst="line">
            <a:avLst/>
          </a:prstGeom>
          <a:ln w="15875">
            <a:solidFill>
              <a:srgbClr val="1F5FA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1480" y="3172968"/>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App</a:t>
            </a:r>
          </a:p>
        </p:txBody>
      </p:sp>
      <p:sp>
        <p:nvSpPr>
          <p:cNvPr id="14" name="Rounded Rectangle 13"/>
          <p:cNvSpPr/>
          <p:nvPr/>
        </p:nvSpPr>
        <p:spPr>
          <a:xfrm>
            <a:off x="1508760" y="3172968"/>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your VPC</a:t>
            </a:r>
          </a:p>
        </p:txBody>
      </p:sp>
      <p:cxnSp>
        <p:nvCxnSpPr>
          <p:cNvPr id="15" name="Connector 14"/>
          <p:cNvCxnSpPr/>
          <p:nvPr/>
        </p:nvCxnSpPr>
        <p:spPr>
          <a:xfrm>
            <a:off x="2788920" y="3675887"/>
            <a:ext cx="0" cy="100585"/>
          </a:xfrm>
          <a:prstGeom prst="line">
            <a:avLst/>
          </a:prstGeom>
          <a:ln w="15875">
            <a:solidFill>
              <a:srgbClr val="1F5FA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1480" y="3776472"/>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5FA8"/>
                </a:solidFill>
              </a:rPr>
              <a:t>Models</a:t>
            </a:r>
          </a:p>
        </p:txBody>
      </p:sp>
      <p:sp>
        <p:nvSpPr>
          <p:cNvPr id="17" name="Rounded Rectangle 16"/>
          <p:cNvSpPr/>
          <p:nvPr/>
        </p:nvSpPr>
        <p:spPr>
          <a:xfrm>
            <a:off x="1508760" y="3776472"/>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Sarvam hosted API</a:t>
            </a:r>
          </a:p>
        </p:txBody>
      </p:sp>
      <p:sp>
        <p:nvSpPr>
          <p:cNvPr id="18" name="Rounded Rectangle 17"/>
          <p:cNvSpPr/>
          <p:nvPr/>
        </p:nvSpPr>
        <p:spPr>
          <a:xfrm>
            <a:off x="411480" y="4480560"/>
            <a:ext cx="3703320" cy="566928"/>
          </a:xfrm>
          <a:prstGeom prst="roundRect">
            <a:avLst/>
          </a:prstGeom>
          <a:solidFill>
            <a:srgbClr val="FDF4E4"/>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 b="1">
                <a:solidFill>
                  <a:srgbClr val="B87A1A"/>
                </a:solidFill>
              </a:rPr>
              <a:t/>
            </a:r>
          </a:p>
          <a:p>
            <a:pPr algn="ctr"/>
            <a:r>
              <a:rPr sz="900">
                <a:solidFill>
                  <a:srgbClr val="5A5A5A"/>
                </a:solidFill>
              </a:rPr>
              <a:t>Crosses the boundary:
audio to CPaaS, text to Sarvam</a:t>
            </a:r>
          </a:p>
        </p:txBody>
      </p:sp>
      <p:sp>
        <p:nvSpPr>
          <p:cNvPr id="19" name="Rounded Rectangle 18"/>
          <p:cNvSpPr/>
          <p:nvPr/>
        </p:nvSpPr>
        <p:spPr>
          <a:xfrm>
            <a:off x="411480" y="5166360"/>
            <a:ext cx="3703320" cy="658368"/>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 b="1">
                <a:solidFill>
                  <a:srgbClr val="1F5FA8"/>
                </a:solidFill>
              </a:rPr>
              <a:t/>
            </a:r>
          </a:p>
          <a:p>
            <a:pPr algn="ctr"/>
            <a:r>
              <a:rPr sz="900">
                <a:solidFill>
                  <a:srgbClr val="5A5A5A"/>
                </a:solidFill>
              </a:rPr>
              <a:t>Live in hours.
Pilots and non-sensitive volume.</a:t>
            </a:r>
          </a:p>
        </p:txBody>
      </p:sp>
      <p:sp>
        <p:nvSpPr>
          <p:cNvPr id="20" name="Rounded Rectangle 19"/>
          <p:cNvSpPr/>
          <p:nvPr/>
        </p:nvSpPr>
        <p:spPr>
          <a:xfrm>
            <a:off x="4233672" y="1371600"/>
            <a:ext cx="3703320" cy="457200"/>
          </a:xfrm>
          <a:prstGeom prst="roundRect">
            <a:avLst/>
          </a:prstGeom>
          <a:solidFill>
            <a:srgbClr val="11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HYBRID</a:t>
            </a:r>
          </a:p>
        </p:txBody>
      </p:sp>
      <p:sp>
        <p:nvSpPr>
          <p:cNvPr id="21" name="Rounded Rectangle 20"/>
          <p:cNvSpPr/>
          <p:nvPr/>
        </p:nvSpPr>
        <p:spPr>
          <a:xfrm>
            <a:off x="4233672" y="1965960"/>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18A8A"/>
                </a:solidFill>
              </a:rPr>
              <a:t>Carrier</a:t>
            </a:r>
          </a:p>
        </p:txBody>
      </p:sp>
      <p:sp>
        <p:nvSpPr>
          <p:cNvPr id="22" name="Rounded Rectangle 21"/>
          <p:cNvSpPr/>
          <p:nvPr/>
        </p:nvSpPr>
        <p:spPr>
          <a:xfrm>
            <a:off x="5330952" y="1965960"/>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SIP trunk</a:t>
            </a:r>
          </a:p>
        </p:txBody>
      </p:sp>
      <p:cxnSp>
        <p:nvCxnSpPr>
          <p:cNvPr id="23" name="Connector 22"/>
          <p:cNvCxnSpPr/>
          <p:nvPr/>
        </p:nvCxnSpPr>
        <p:spPr>
          <a:xfrm>
            <a:off x="6611112" y="2468880"/>
            <a:ext cx="0" cy="100584"/>
          </a:xfrm>
          <a:prstGeom prst="line">
            <a:avLst/>
          </a:prstGeom>
          <a:ln w="15875">
            <a:solidFill>
              <a:srgbClr val="118A8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33672" y="2569464"/>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18A8A"/>
                </a:solidFill>
              </a:rPr>
              <a:t>Media</a:t>
            </a:r>
          </a:p>
        </p:txBody>
      </p:sp>
      <p:sp>
        <p:nvSpPr>
          <p:cNvPr id="25" name="Rounded Rectangle 24"/>
          <p:cNvSpPr/>
          <p:nvPr/>
        </p:nvSpPr>
        <p:spPr>
          <a:xfrm>
            <a:off x="5330952" y="2569464"/>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your SBC, your DC</a:t>
            </a:r>
          </a:p>
        </p:txBody>
      </p:sp>
      <p:cxnSp>
        <p:nvCxnSpPr>
          <p:cNvPr id="26" name="Connector 25"/>
          <p:cNvCxnSpPr/>
          <p:nvPr/>
        </p:nvCxnSpPr>
        <p:spPr>
          <a:xfrm>
            <a:off x="6611112" y="3072384"/>
            <a:ext cx="0" cy="100584"/>
          </a:xfrm>
          <a:prstGeom prst="line">
            <a:avLst/>
          </a:prstGeom>
          <a:ln w="15875">
            <a:solidFill>
              <a:srgbClr val="118A8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233672" y="3172968"/>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18A8A"/>
                </a:solidFill>
              </a:rPr>
              <a:t>App</a:t>
            </a:r>
          </a:p>
        </p:txBody>
      </p:sp>
      <p:sp>
        <p:nvSpPr>
          <p:cNvPr id="28" name="Rounded Rectangle 27"/>
          <p:cNvSpPr/>
          <p:nvPr/>
        </p:nvSpPr>
        <p:spPr>
          <a:xfrm>
            <a:off x="5330952" y="3172968"/>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your VPC</a:t>
            </a:r>
          </a:p>
        </p:txBody>
      </p:sp>
      <p:cxnSp>
        <p:nvCxnSpPr>
          <p:cNvPr id="29" name="Connector 28"/>
          <p:cNvCxnSpPr/>
          <p:nvPr/>
        </p:nvCxnSpPr>
        <p:spPr>
          <a:xfrm>
            <a:off x="6611112" y="3675887"/>
            <a:ext cx="0" cy="100585"/>
          </a:xfrm>
          <a:prstGeom prst="line">
            <a:avLst/>
          </a:prstGeom>
          <a:ln w="15875">
            <a:solidFill>
              <a:srgbClr val="118A8A"/>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33672" y="3776472"/>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18A8A"/>
                </a:solidFill>
              </a:rPr>
              <a:t>Models</a:t>
            </a:r>
          </a:p>
        </p:txBody>
      </p:sp>
      <p:sp>
        <p:nvSpPr>
          <p:cNvPr id="31" name="Rounded Rectangle 30"/>
          <p:cNvSpPr/>
          <p:nvPr/>
        </p:nvSpPr>
        <p:spPr>
          <a:xfrm>
            <a:off x="5330952" y="3776472"/>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Sarvam API, private link</a:t>
            </a:r>
          </a:p>
        </p:txBody>
      </p:sp>
      <p:sp>
        <p:nvSpPr>
          <p:cNvPr id="32" name="Rounded Rectangle 31"/>
          <p:cNvSpPr/>
          <p:nvPr/>
        </p:nvSpPr>
        <p:spPr>
          <a:xfrm>
            <a:off x="4233672" y="4480560"/>
            <a:ext cx="3703320" cy="566928"/>
          </a:xfrm>
          <a:prstGeom prst="roundRect">
            <a:avLst/>
          </a:prstGeom>
          <a:solidFill>
            <a:srgbClr val="FDF4E4"/>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 b="1">
                <a:solidFill>
                  <a:srgbClr val="B87A1A"/>
                </a:solidFill>
              </a:rPr>
              <a:t/>
            </a:r>
          </a:p>
          <a:p>
            <a:pPr algn="ctr"/>
            <a:r>
              <a:rPr sz="900">
                <a:solidFill>
                  <a:srgbClr val="5A5A5A"/>
                </a:solidFill>
              </a:rPr>
              <a:t>Crosses the boundary:
transcript text only</a:t>
            </a:r>
          </a:p>
        </p:txBody>
      </p:sp>
      <p:sp>
        <p:nvSpPr>
          <p:cNvPr id="33" name="Rounded Rectangle 32"/>
          <p:cNvSpPr/>
          <p:nvPr/>
        </p:nvSpPr>
        <p:spPr>
          <a:xfrm>
            <a:off x="4233672" y="5166360"/>
            <a:ext cx="3703320" cy="658368"/>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 b="1">
                <a:solidFill>
                  <a:srgbClr val="118A8A"/>
                </a:solidFill>
              </a:rPr>
              <a:t/>
            </a:r>
          </a:p>
          <a:p>
            <a:pPr algn="ctr"/>
            <a:r>
              <a:rPr sz="900">
                <a:solidFill>
                  <a:srgbClr val="5A5A5A"/>
                </a:solidFill>
              </a:rPr>
              <a:t>Where most Indian BFSI lands.
Audio and PII stay yours.</a:t>
            </a:r>
          </a:p>
        </p:txBody>
      </p:sp>
      <p:sp>
        <p:nvSpPr>
          <p:cNvPr id="34" name="Rounded Rectangle 33"/>
          <p:cNvSpPr/>
          <p:nvPr/>
        </p:nvSpPr>
        <p:spPr>
          <a:xfrm>
            <a:off x="8055864" y="1371600"/>
            <a:ext cx="3703320" cy="457200"/>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ON-PREMISE</a:t>
            </a:r>
          </a:p>
        </p:txBody>
      </p:sp>
      <p:sp>
        <p:nvSpPr>
          <p:cNvPr id="35" name="Rounded Rectangle 34"/>
          <p:cNvSpPr/>
          <p:nvPr/>
        </p:nvSpPr>
        <p:spPr>
          <a:xfrm>
            <a:off x="8055864" y="1965960"/>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E7A3C"/>
                </a:solidFill>
              </a:rPr>
              <a:t>Carrier</a:t>
            </a:r>
          </a:p>
        </p:txBody>
      </p:sp>
      <p:sp>
        <p:nvSpPr>
          <p:cNvPr id="36" name="Rounded Rectangle 35"/>
          <p:cNvSpPr/>
          <p:nvPr/>
        </p:nvSpPr>
        <p:spPr>
          <a:xfrm>
            <a:off x="9153144" y="1965960"/>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SIP trunk</a:t>
            </a:r>
          </a:p>
        </p:txBody>
      </p:sp>
      <p:cxnSp>
        <p:nvCxnSpPr>
          <p:cNvPr id="37" name="Connector 36"/>
          <p:cNvCxnSpPr/>
          <p:nvPr/>
        </p:nvCxnSpPr>
        <p:spPr>
          <a:xfrm>
            <a:off x="10433304" y="2468880"/>
            <a:ext cx="0" cy="100584"/>
          </a:xfrm>
          <a:prstGeom prst="line">
            <a:avLst/>
          </a:prstGeom>
          <a:ln w="15875">
            <a:solidFill>
              <a:srgbClr val="1E7A3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055864" y="2569464"/>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E7A3C"/>
                </a:solidFill>
              </a:rPr>
              <a:t>Media</a:t>
            </a:r>
          </a:p>
        </p:txBody>
      </p:sp>
      <p:sp>
        <p:nvSpPr>
          <p:cNvPr id="39" name="Rounded Rectangle 38"/>
          <p:cNvSpPr/>
          <p:nvPr/>
        </p:nvSpPr>
        <p:spPr>
          <a:xfrm>
            <a:off x="9153144" y="2569464"/>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your SBC</a:t>
            </a:r>
          </a:p>
        </p:txBody>
      </p:sp>
      <p:cxnSp>
        <p:nvCxnSpPr>
          <p:cNvPr id="40" name="Connector 39"/>
          <p:cNvCxnSpPr/>
          <p:nvPr/>
        </p:nvCxnSpPr>
        <p:spPr>
          <a:xfrm>
            <a:off x="10433304" y="3072384"/>
            <a:ext cx="0" cy="100584"/>
          </a:xfrm>
          <a:prstGeom prst="line">
            <a:avLst/>
          </a:prstGeom>
          <a:ln w="15875">
            <a:solidFill>
              <a:srgbClr val="1E7A3C"/>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055864" y="3172968"/>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E7A3C"/>
                </a:solidFill>
              </a:rPr>
              <a:t>App</a:t>
            </a:r>
          </a:p>
        </p:txBody>
      </p:sp>
      <p:sp>
        <p:nvSpPr>
          <p:cNvPr id="42" name="Rounded Rectangle 41"/>
          <p:cNvSpPr/>
          <p:nvPr/>
        </p:nvSpPr>
        <p:spPr>
          <a:xfrm>
            <a:off x="9153144" y="3172968"/>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your DC</a:t>
            </a:r>
          </a:p>
        </p:txBody>
      </p:sp>
      <p:cxnSp>
        <p:nvCxnSpPr>
          <p:cNvPr id="43" name="Connector 42"/>
          <p:cNvCxnSpPr/>
          <p:nvPr/>
        </p:nvCxnSpPr>
        <p:spPr>
          <a:xfrm>
            <a:off x="10433304" y="3675887"/>
            <a:ext cx="0" cy="100585"/>
          </a:xfrm>
          <a:prstGeom prst="line">
            <a:avLst/>
          </a:prstGeom>
          <a:ln w="15875">
            <a:solidFill>
              <a:srgbClr val="1E7A3C"/>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055864" y="3776472"/>
            <a:ext cx="1051560" cy="502920"/>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E7A3C"/>
                </a:solidFill>
              </a:rPr>
              <a:t>Models</a:t>
            </a:r>
          </a:p>
        </p:txBody>
      </p:sp>
      <p:sp>
        <p:nvSpPr>
          <p:cNvPr id="45" name="Rounded Rectangle 44"/>
          <p:cNvSpPr/>
          <p:nvPr/>
        </p:nvSpPr>
        <p:spPr>
          <a:xfrm>
            <a:off x="9153144" y="3776472"/>
            <a:ext cx="2606040" cy="502920"/>
          </a:xfrm>
          <a:prstGeom prst="roundRect">
            <a:avLst/>
          </a:prstGeom>
          <a:solidFill>
            <a:srgbClr val="F2F5F9"/>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0F1E3C"/>
                </a:solidFill>
              </a:rPr>
              <a:t>Sarvam in your boundary</a:t>
            </a:r>
          </a:p>
        </p:txBody>
      </p:sp>
      <p:sp>
        <p:nvSpPr>
          <p:cNvPr id="46" name="Rounded Rectangle 45"/>
          <p:cNvSpPr/>
          <p:nvPr/>
        </p:nvSpPr>
        <p:spPr>
          <a:xfrm>
            <a:off x="8055864" y="4480560"/>
            <a:ext cx="3703320" cy="566928"/>
          </a:xfrm>
          <a:prstGeom prst="roundRect">
            <a:avLst/>
          </a:prstGeom>
          <a:solidFill>
            <a:srgbClr val="FDF4E4"/>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 b="1">
                <a:solidFill>
                  <a:srgbClr val="B87A1A"/>
                </a:solidFill>
              </a:rPr>
              <a:t/>
            </a:r>
          </a:p>
          <a:p>
            <a:pPr algn="ctr"/>
            <a:r>
              <a:rPr sz="900">
                <a:solidFill>
                  <a:srgbClr val="5A5A5A"/>
                </a:solidFill>
              </a:rPr>
              <a:t>Crosses the boundary:
nothing</a:t>
            </a:r>
          </a:p>
        </p:txBody>
      </p:sp>
      <p:sp>
        <p:nvSpPr>
          <p:cNvPr id="47" name="Rounded Rectangle 46"/>
          <p:cNvSpPr/>
          <p:nvPr/>
        </p:nvSpPr>
        <p:spPr>
          <a:xfrm>
            <a:off x="8055864" y="5166360"/>
            <a:ext cx="3703320" cy="658368"/>
          </a:xfrm>
          <a:prstGeom prst="roundRect">
            <a:avLst/>
          </a:prstGeom>
          <a:solidFill>
            <a:srgbClr val="FFFFFF"/>
          </a:solidFill>
          <a:ln w="9525">
            <a:solidFill>
              <a:srgbClr val="C2CE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 b="1">
                <a:solidFill>
                  <a:srgbClr val="1E7A3C"/>
                </a:solidFill>
              </a:rPr>
              <a:t/>
            </a:r>
          </a:p>
          <a:p>
            <a:pPr algn="ctr"/>
            <a:r>
              <a:rPr sz="900">
                <a:solidFill>
                  <a:srgbClr val="5A5A5A"/>
                </a:solidFill>
              </a:rPr>
              <a:t>No audio may leave.
You operate GPU capacity.</a:t>
            </a:r>
          </a:p>
        </p:txBody>
      </p:sp>
      <p:sp>
        <p:nvSpPr>
          <p:cNvPr id="48" name="Rounded Rectangle 47"/>
          <p:cNvSpPr/>
          <p:nvPr/>
        </p:nvSpPr>
        <p:spPr>
          <a:xfrm>
            <a:off x="411480" y="5989320"/>
            <a:ext cx="11384280" cy="621792"/>
          </a:xfrm>
          <a:prstGeom prst="roundRect">
            <a:avLst/>
          </a:prstGeom>
          <a:no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5888736"/>
            <a:ext cx="3108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850" b="1">
                <a:solidFill>
                  <a:srgbClr val="1E7A3C"/>
                </a:solidFill>
              </a:rPr>
              <a:t>THE ARGUMENT THAT LANDS WITH A REGULATED LENDER</a:t>
            </a:r>
          </a:p>
        </p:txBody>
      </p:sp>
      <p:sp>
        <p:nvSpPr>
          <p:cNvPr id="50" name="TextBox 49"/>
          <p:cNvSpPr txBox="1"/>
          <p:nvPr/>
        </p:nvSpPr>
        <p:spPr>
          <a:xfrm>
            <a:off x="566928" y="6144768"/>
            <a:ext cx="11064240" cy="411480"/>
          </a:xfrm>
          <a:prstGeom prst="rect">
            <a:avLst/>
          </a:prstGeom>
          <a:noFill/>
        </p:spPr>
        <p:txBody>
          <a:bodyPr wrap="square" lIns="0" rIns="0" tIns="0" bIns="0">
            <a:spAutoFit/>
          </a:bodyPr>
          <a:lstStyle/>
          <a:p>
            <a:pPr algn="l">
              <a:lnSpc>
                <a:spcPct val="120000"/>
              </a:lnSpc>
            </a:pPr>
            <a:r>
              <a:rPr sz="900" b="0">
                <a:solidFill>
                  <a:srgbClr val="0F1E3C"/>
                </a:solidFill>
                <a:latin typeface="Calibri"/>
              </a:rPr>
              <a:t>In hybrid, every borrower record and the entire audio path stay inside your network. What leaves is a transcript and a synthesis request — to an Indian provider, under Indian jurisdiction. That is a materially different conversation from sending call recordings to a US-hosted model, and it is the strongest commercial reason to choose Sarvam.</a:t>
            </a:r>
          </a:p>
        </p:txBody>
      </p:sp>
      <p:sp>
        <p:nvSpPr>
          <p:cNvPr id="51" name="TextBox 50"/>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COMMERCIALS</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One-time, recurring, and where the cost actually sits</a:t>
            </a:r>
          </a:p>
        </p:txBody>
      </p:sp>
      <p:sp>
        <p:nvSpPr>
          <p:cNvPr id="5" name="TextBox 4"/>
          <p:cNvSpPr txBox="1"/>
          <p:nvPr/>
        </p:nvSpPr>
        <p:spPr>
          <a:xfrm>
            <a:off x="502920" y="1188720"/>
            <a:ext cx="11155680" cy="274320"/>
          </a:xfrm>
          <a:prstGeom prst="rect">
            <a:avLst/>
          </a:prstGeom>
          <a:noFill/>
        </p:spPr>
        <p:txBody>
          <a:bodyPr wrap="square" lIns="0" rIns="0" tIns="0" bIns="0">
            <a:spAutoFit/>
          </a:bodyPr>
          <a:lstStyle/>
          <a:p>
            <a:pPr algn="l">
              <a:lnSpc>
                <a:spcPct val="100000"/>
              </a:lnSpc>
            </a:pPr>
            <a:r>
              <a:rPr sz="1000" b="1">
                <a:solidFill>
                  <a:srgbClr val="B12A2A"/>
                </a:solidFill>
                <a:latin typeface="Calibri"/>
              </a:rPr>
              <a:t>Rates below are PLACEHOLDERS pending the Sarvam rate card and your telco contract. Everything else is arithmetic.</a:t>
            </a:r>
          </a:p>
        </p:txBody>
      </p:sp>
      <p:graphicFrame>
        <p:nvGraphicFramePr>
          <p:cNvPr id="6" name="Table 5"/>
          <p:cNvGraphicFramePr>
            <a:graphicFrameLocks noGrp="1"/>
          </p:cNvGraphicFramePr>
          <p:nvPr/>
        </p:nvGraphicFramePr>
        <p:xfrm>
          <a:off x="502920" y="1554480"/>
          <a:ext cx="5577840" cy="2487168"/>
        </p:xfrm>
        <a:graphic>
          <a:graphicData uri="http://schemas.openxmlformats.org/drawingml/2006/table">
            <a:tbl>
              <a:tblPr firstRow="1" bandRow="1">
                <a:tableStyleId>{5C22544A-7EE6-4342-B048-85BDC9FD1C3A}</a:tableStyleId>
              </a:tblPr>
              <a:tblGrid>
                <a:gridCol w="3657600"/>
                <a:gridCol w="1920240"/>
              </a:tblGrid>
              <a:tr h="310896">
                <a:tc>
                  <a:txBody>
                    <a:bodyPr wrap="square"/>
                    <a:lstStyle/>
                    <a:p>
                      <a:r>
                        <a:rPr sz="1000" b="1">
                          <a:solidFill>
                            <a:srgbClr val="FFFFFF"/>
                          </a:solidFill>
                        </a:rPr>
                        <a:t>Per automated call, ~90 s</a:t>
                      </a:r>
                    </a:p>
                  </a:txBody>
                  <a:tcPr>
                    <a:solidFill>
                      <a:srgbClr val="0F1E3C"/>
                    </a:solidFill>
                  </a:tcPr>
                </a:tc>
                <a:tc>
                  <a:txBody>
                    <a:bodyPr wrap="square"/>
                    <a:lstStyle/>
                    <a:p>
                      <a:r>
                        <a:rPr sz="1000" b="1">
                          <a:solidFill>
                            <a:srgbClr val="FFFFFF"/>
                          </a:solidFill>
                        </a:rPr>
                        <a:t>Cost</a:t>
                      </a:r>
                    </a:p>
                  </a:txBody>
                  <a:tcPr>
                    <a:solidFill>
                      <a:srgbClr val="0F1E3C"/>
                    </a:solidFill>
                  </a:tcPr>
                </a:tc>
              </a:tr>
              <a:tr h="310896">
                <a:tc>
                  <a:txBody>
                    <a:bodyPr wrap="square"/>
                    <a:lstStyle/>
                    <a:p>
                      <a:r>
                        <a:rPr sz="1000" b="0">
                          <a:solidFill>
                            <a:srgbClr val="0F1E3C"/>
                          </a:solidFill>
                        </a:rPr>
                        <a:t>Telephony  (₹0.30/min)</a:t>
                      </a:r>
                    </a:p>
                  </a:txBody>
                  <a:tcPr>
                    <a:solidFill>
                      <a:srgbClr val="FFFFFF"/>
                    </a:solidFill>
                  </a:tcPr>
                </a:tc>
                <a:tc>
                  <a:txBody>
                    <a:bodyPr wrap="square"/>
                    <a:lstStyle/>
                    <a:p>
                      <a:r>
                        <a:rPr sz="1000" b="0">
                          <a:solidFill>
                            <a:srgbClr val="0F1E3C"/>
                          </a:solidFill>
                        </a:rPr>
                        <a:t>₹0.45</a:t>
                      </a:r>
                    </a:p>
                  </a:txBody>
                  <a:tcPr>
                    <a:solidFill>
                      <a:srgbClr val="FFFFFF"/>
                    </a:solidFill>
                  </a:tcPr>
                </a:tc>
              </a:tr>
              <a:tr h="310896">
                <a:tc>
                  <a:txBody>
                    <a:bodyPr wrap="square"/>
                    <a:lstStyle/>
                    <a:p>
                      <a:r>
                        <a:rPr sz="1000" b="0">
                          <a:solidFill>
                            <a:srgbClr val="0F1E3C"/>
                          </a:solidFill>
                        </a:rPr>
                        <a:t>Saaras STT streaming</a:t>
                      </a:r>
                    </a:p>
                  </a:txBody>
                  <a:tcPr>
                    <a:solidFill>
                      <a:srgbClr val="F2F5F9"/>
                    </a:solidFill>
                  </a:tcPr>
                </a:tc>
                <a:tc>
                  <a:txBody>
                    <a:bodyPr wrap="square"/>
                    <a:lstStyle/>
                    <a:p>
                      <a:r>
                        <a:rPr sz="1000" b="0">
                          <a:solidFill>
                            <a:srgbClr val="0F1E3C"/>
                          </a:solidFill>
                        </a:rPr>
                        <a:t>₹0.38</a:t>
                      </a:r>
                    </a:p>
                  </a:txBody>
                  <a:tcPr>
                    <a:solidFill>
                      <a:srgbClr val="F2F5F9"/>
                    </a:solidFill>
                  </a:tcPr>
                </a:tc>
              </a:tr>
              <a:tr h="310896">
                <a:tc>
                  <a:txBody>
                    <a:bodyPr wrap="square"/>
                    <a:lstStyle/>
                    <a:p>
                      <a:r>
                        <a:rPr sz="1000" b="0">
                          <a:solidFill>
                            <a:srgbClr val="0F1E3C"/>
                          </a:solidFill>
                        </a:rPr>
                        <a:t>sarvam-105b  (~12 turns)</a:t>
                      </a:r>
                    </a:p>
                  </a:txBody>
                  <a:tcPr>
                    <a:solidFill>
                      <a:srgbClr val="FFFFFF"/>
                    </a:solidFill>
                  </a:tcPr>
                </a:tc>
                <a:tc>
                  <a:txBody>
                    <a:bodyPr wrap="square"/>
                    <a:lstStyle/>
                    <a:p>
                      <a:r>
                        <a:rPr sz="1000" b="0">
                          <a:solidFill>
                            <a:srgbClr val="0F1E3C"/>
                          </a:solidFill>
                        </a:rPr>
                        <a:t>₹1.20</a:t>
                      </a:r>
                    </a:p>
                  </a:txBody>
                  <a:tcPr>
                    <a:solidFill>
                      <a:srgbClr val="FFFFFF"/>
                    </a:solidFill>
                  </a:tcPr>
                </a:tc>
              </a:tr>
              <a:tr h="310896">
                <a:tc>
                  <a:txBody>
                    <a:bodyPr wrap="square"/>
                    <a:lstStyle/>
                    <a:p>
                      <a:r>
                        <a:rPr sz="1000" b="0">
                          <a:solidFill>
                            <a:srgbClr val="0F1E3C"/>
                          </a:solidFill>
                        </a:rPr>
                        <a:t>Bulbul TTS  (~12 utterances)</a:t>
                      </a:r>
                    </a:p>
                  </a:txBody>
                  <a:tcPr>
                    <a:solidFill>
                      <a:srgbClr val="F2F5F9"/>
                    </a:solidFill>
                  </a:tcPr>
                </a:tc>
                <a:tc>
                  <a:txBody>
                    <a:bodyPr wrap="square"/>
                    <a:lstStyle/>
                    <a:p>
                      <a:r>
                        <a:rPr sz="1000" b="0">
                          <a:solidFill>
                            <a:srgbClr val="0F1E3C"/>
                          </a:solidFill>
                        </a:rPr>
                        <a:t>₹1.80</a:t>
                      </a:r>
                    </a:p>
                  </a:txBody>
                  <a:tcPr>
                    <a:solidFill>
                      <a:srgbClr val="F2F5F9"/>
                    </a:solidFill>
                  </a:tcPr>
                </a:tc>
              </a:tr>
              <a:tr h="310896">
                <a:tc>
                  <a:txBody>
                    <a:bodyPr wrap="square"/>
                    <a:lstStyle/>
                    <a:p>
                      <a:r>
                        <a:rPr sz="1000" b="1">
                          <a:solidFill>
                            <a:srgbClr val="0F1E3C"/>
                          </a:solidFill>
                        </a:rPr>
                        <a:t>Automated call</a:t>
                      </a:r>
                    </a:p>
                  </a:txBody>
                  <a:tcPr>
                    <a:solidFill>
                      <a:srgbClr val="FFFFFF"/>
                    </a:solidFill>
                  </a:tcPr>
                </a:tc>
                <a:tc>
                  <a:txBody>
                    <a:bodyPr wrap="square"/>
                    <a:lstStyle/>
                    <a:p>
                      <a:r>
                        <a:rPr sz="1000" b="1">
                          <a:solidFill>
                            <a:srgbClr val="0F1E3C"/>
                          </a:solidFill>
                        </a:rPr>
                        <a:t>≈₹3.80   (range ₹3–6)</a:t>
                      </a:r>
                    </a:p>
                  </a:txBody>
                  <a:tcPr>
                    <a:solidFill>
                      <a:srgbClr val="FFFFFF"/>
                    </a:solidFill>
                  </a:tcPr>
                </a:tc>
              </a:tr>
              <a:tr h="310896">
                <a:tc>
                  <a:txBody>
                    <a:bodyPr wrap="square"/>
                    <a:lstStyle/>
                    <a:p>
                      <a:r>
                        <a:rPr sz="1000" b="0">
                          <a:solidFill>
                            <a:srgbClr val="0F1E3C"/>
                          </a:solidFill>
                        </a:rPr>
                        <a:t>Human agent touch</a:t>
                      </a:r>
                    </a:p>
                  </a:txBody>
                  <a:tcPr>
                    <a:solidFill>
                      <a:srgbClr val="F2F5F9"/>
                    </a:solidFill>
                  </a:tcPr>
                </a:tc>
                <a:tc>
                  <a:txBody>
                    <a:bodyPr wrap="square"/>
                    <a:lstStyle/>
                    <a:p>
                      <a:r>
                        <a:rPr sz="1000" b="1">
                          <a:solidFill>
                            <a:srgbClr val="0F1E3C"/>
                          </a:solidFill>
                        </a:rPr>
                        <a:t>₹40–80</a:t>
                      </a:r>
                    </a:p>
                  </a:txBody>
                  <a:tcPr>
                    <a:solidFill>
                      <a:srgbClr val="F2F5F9"/>
                    </a:solidFill>
                  </a:tcPr>
                </a:tc>
              </a:tr>
              <a:tr h="310896">
                <a:tc>
                  <a:txBody>
                    <a:bodyPr wrap="square"/>
                    <a:lstStyle/>
                    <a:p>
                      <a:r>
                        <a:rPr sz="1000" b="1">
                          <a:solidFill>
                            <a:srgbClr val="0F1E3C"/>
                          </a:solidFill>
                        </a:rPr>
                        <a:t>Saving per call</a:t>
                      </a:r>
                    </a:p>
                  </a:txBody>
                  <a:tcPr>
                    <a:solidFill>
                      <a:srgbClr val="FFFFFF"/>
                    </a:solidFill>
                  </a:tcPr>
                </a:tc>
                <a:tc>
                  <a:txBody>
                    <a:bodyPr wrap="square"/>
                    <a:lstStyle/>
                    <a:p>
                      <a:r>
                        <a:rPr sz="1000" b="1">
                          <a:solidFill>
                            <a:srgbClr val="0F1E3C"/>
                          </a:solidFill>
                        </a:rPr>
                        <a:t>≈₹35–75</a:t>
                      </a:r>
                    </a:p>
                  </a:txBody>
                  <a:tcPr>
                    <a:solidFill>
                      <a:srgbClr val="FFFFFF"/>
                    </a:solidFill>
                  </a:tcPr>
                </a:tc>
              </a:tr>
            </a:tbl>
          </a:graphicData>
        </a:graphic>
      </p:graphicFrame>
      <p:graphicFrame>
        <p:nvGraphicFramePr>
          <p:cNvPr id="7" name="Table 6"/>
          <p:cNvGraphicFramePr>
            <a:graphicFrameLocks noGrp="1"/>
          </p:cNvGraphicFramePr>
          <p:nvPr/>
        </p:nvGraphicFramePr>
        <p:xfrm>
          <a:off x="6355080" y="1554480"/>
          <a:ext cx="5303520" cy="2176272"/>
        </p:xfrm>
        <a:graphic>
          <a:graphicData uri="http://schemas.openxmlformats.org/drawingml/2006/table">
            <a:tbl>
              <a:tblPr firstRow="1" bandRow="1">
                <a:tableStyleId>{5C22544A-7EE6-4342-B048-85BDC9FD1C3A}</a:tableStyleId>
              </a:tblPr>
              <a:tblGrid>
                <a:gridCol w="3383280"/>
                <a:gridCol w="1920240"/>
              </a:tblGrid>
              <a:tr h="310896">
                <a:tc>
                  <a:txBody>
                    <a:bodyPr wrap="square"/>
                    <a:lstStyle/>
                    <a:p>
                      <a:r>
                        <a:rPr sz="1000" b="1">
                          <a:solidFill>
                            <a:srgbClr val="FFFFFF"/>
                          </a:solidFill>
                        </a:rPr>
                        <a:t>Token economics  (measured)</a:t>
                      </a:r>
                    </a:p>
                  </a:txBody>
                  <a:tcPr>
                    <a:solidFill>
                      <a:srgbClr val="0F1E3C"/>
                    </a:solidFill>
                  </a:tcPr>
                </a:tc>
                <a:tc>
                  <a:txBody>
                    <a:bodyPr wrap="square"/>
                    <a:lstStyle/>
                    <a:p>
                      <a:r>
                        <a:rPr sz="1000" b="1">
                          <a:solidFill>
                            <a:srgbClr val="FFFFFF"/>
                          </a:solidFill>
                        </a:rPr>
                        <a:t>Value</a:t>
                      </a:r>
                    </a:p>
                  </a:txBody>
                  <a:tcPr>
                    <a:solidFill>
                      <a:srgbClr val="0F1E3C"/>
                    </a:solidFill>
                  </a:tcPr>
                </a:tc>
              </a:tr>
              <a:tr h="310896">
                <a:tc>
                  <a:txBody>
                    <a:bodyPr wrap="square"/>
                    <a:lstStyle/>
                    <a:p>
                      <a:r>
                        <a:rPr sz="1000" b="0">
                          <a:solidFill>
                            <a:srgbClr val="0F1E3C"/>
                          </a:solidFill>
                        </a:rPr>
                        <a:t>System prompt, resent every turn</a:t>
                      </a:r>
                    </a:p>
                  </a:txBody>
                  <a:tcPr>
                    <a:solidFill>
                      <a:srgbClr val="FFFFFF"/>
                    </a:solidFill>
                  </a:tcPr>
                </a:tc>
                <a:tc>
                  <a:txBody>
                    <a:bodyPr wrap="square"/>
                    <a:lstStyle/>
                    <a:p>
                      <a:r>
                        <a:rPr sz="1000" b="1">
                          <a:solidFill>
                            <a:srgbClr val="0F1E3C"/>
                          </a:solidFill>
                        </a:rPr>
                        <a:t>1,587 tokens</a:t>
                      </a:r>
                    </a:p>
                  </a:txBody>
                  <a:tcPr>
                    <a:solidFill>
                      <a:srgbClr val="FFFFFF"/>
                    </a:solidFill>
                  </a:tcPr>
                </a:tc>
              </a:tr>
              <a:tr h="310896">
                <a:tc>
                  <a:txBody>
                    <a:bodyPr wrap="square"/>
                    <a:lstStyle/>
                    <a:p>
                      <a:r>
                        <a:rPr sz="1000" b="0">
                          <a:solidFill>
                            <a:srgbClr val="0F1E3C"/>
                          </a:solidFill>
                        </a:rPr>
                        <a:t>Model output per turn</a:t>
                      </a:r>
                    </a:p>
                  </a:txBody>
                  <a:tcPr>
                    <a:solidFill>
                      <a:srgbClr val="F2F5F9"/>
                    </a:solidFill>
                  </a:tcPr>
                </a:tc>
                <a:tc>
                  <a:txBody>
                    <a:bodyPr wrap="square"/>
                    <a:lstStyle/>
                    <a:p>
                      <a:r>
                        <a:rPr sz="1000" b="0">
                          <a:solidFill>
                            <a:srgbClr val="0F1E3C"/>
                          </a:solidFill>
                        </a:rPr>
                        <a:t>8–21 tokens</a:t>
                      </a:r>
                    </a:p>
                  </a:txBody>
                  <a:tcPr>
                    <a:solidFill>
                      <a:srgbClr val="F2F5F9"/>
                    </a:solidFill>
                  </a:tcPr>
                </a:tc>
              </a:tr>
              <a:tr h="310896">
                <a:tc>
                  <a:txBody>
                    <a:bodyPr wrap="square"/>
                    <a:lstStyle/>
                    <a:p>
                      <a:r>
                        <a:rPr sz="1000" b="0">
                          <a:solidFill>
                            <a:srgbClr val="0F1E3C"/>
                          </a:solidFill>
                        </a:rPr>
                        <a:t>12-turn call — input</a:t>
                      </a:r>
                    </a:p>
                  </a:txBody>
                  <a:tcPr>
                    <a:solidFill>
                      <a:srgbClr val="FFFFFF"/>
                    </a:solidFill>
                  </a:tcPr>
                </a:tc>
                <a:tc>
                  <a:txBody>
                    <a:bodyPr wrap="square"/>
                    <a:lstStyle/>
                    <a:p>
                      <a:r>
                        <a:rPr sz="1000" b="1">
                          <a:solidFill>
                            <a:srgbClr val="0F1E3C"/>
                          </a:solidFill>
                        </a:rPr>
                        <a:t>~22,000 tokens</a:t>
                      </a:r>
                    </a:p>
                  </a:txBody>
                  <a:tcPr>
                    <a:solidFill>
                      <a:srgbClr val="FFFFFF"/>
                    </a:solidFill>
                  </a:tcPr>
                </a:tc>
              </a:tr>
              <a:tr h="310896">
                <a:tc>
                  <a:txBody>
                    <a:bodyPr wrap="square"/>
                    <a:lstStyle/>
                    <a:p>
                      <a:r>
                        <a:rPr sz="1000" b="0">
                          <a:solidFill>
                            <a:srgbClr val="0F1E3C"/>
                          </a:solidFill>
                        </a:rPr>
                        <a:t>12-turn call — output</a:t>
                      </a:r>
                    </a:p>
                  </a:txBody>
                  <a:tcPr>
                    <a:solidFill>
                      <a:srgbClr val="F2F5F9"/>
                    </a:solidFill>
                  </a:tcPr>
                </a:tc>
                <a:tc>
                  <a:txBody>
                    <a:bodyPr wrap="square"/>
                    <a:lstStyle/>
                    <a:p>
                      <a:r>
                        <a:rPr sz="1000" b="0">
                          <a:solidFill>
                            <a:srgbClr val="0F1E3C"/>
                          </a:solidFill>
                        </a:rPr>
                        <a:t>~174 tokens</a:t>
                      </a:r>
                    </a:p>
                  </a:txBody>
                  <a:tcPr>
                    <a:solidFill>
                      <a:srgbClr val="F2F5F9"/>
                    </a:solidFill>
                  </a:tcPr>
                </a:tc>
              </a:tr>
              <a:tr h="310896">
                <a:tc>
                  <a:txBody>
                    <a:bodyPr wrap="square"/>
                    <a:lstStyle/>
                    <a:p>
                      <a:r>
                        <a:rPr sz="1000" b="1">
                          <a:solidFill>
                            <a:srgbClr val="0F1E3C"/>
                          </a:solidFill>
                        </a:rPr>
                        <a:t>Input : output ratio</a:t>
                      </a:r>
                    </a:p>
                  </a:txBody>
                  <a:tcPr>
                    <a:solidFill>
                      <a:srgbClr val="FFFFFF"/>
                    </a:solidFill>
                  </a:tcPr>
                </a:tc>
                <a:tc>
                  <a:txBody>
                    <a:bodyPr wrap="square"/>
                    <a:lstStyle/>
                    <a:p>
                      <a:r>
                        <a:rPr sz="1000" b="1">
                          <a:solidFill>
                            <a:srgbClr val="0F1E3C"/>
                          </a:solidFill>
                        </a:rPr>
                        <a:t>126 : 1</a:t>
                      </a:r>
                    </a:p>
                  </a:txBody>
                  <a:tcPr>
                    <a:solidFill>
                      <a:srgbClr val="FFFFFF"/>
                    </a:solidFill>
                  </a:tcPr>
                </a:tc>
              </a:tr>
              <a:tr h="310896">
                <a:tc>
                  <a:txBody>
                    <a:bodyPr wrap="square"/>
                    <a:lstStyle/>
                    <a:p>
                      <a:r>
                        <a:rPr sz="1000" b="0">
                          <a:solidFill>
                            <a:srgbClr val="0F1E3C"/>
                          </a:solidFill>
                        </a:rPr>
                        <a:t>Biggest single lever</a:t>
                      </a:r>
                    </a:p>
                  </a:txBody>
                  <a:tcPr>
                    <a:solidFill>
                      <a:srgbClr val="F2F5F9"/>
                    </a:solidFill>
                  </a:tcPr>
                </a:tc>
                <a:tc>
                  <a:txBody>
                    <a:bodyPr wrap="square"/>
                    <a:lstStyle/>
                    <a:p>
                      <a:r>
                        <a:rPr sz="1000" b="1">
                          <a:solidFill>
                            <a:srgbClr val="0F1E3C"/>
                          </a:solidFill>
                        </a:rPr>
                        <a:t>prompt-prefix caching</a:t>
                      </a:r>
                    </a:p>
                  </a:txBody>
                  <a:tcPr>
                    <a:solidFill>
                      <a:srgbClr val="F2F5F9"/>
                    </a:solidFill>
                  </a:tcPr>
                </a:tc>
              </a:tr>
            </a:tbl>
          </a:graphicData>
        </a:graphic>
      </p:graphicFrame>
      <p:sp>
        <p:nvSpPr>
          <p:cNvPr id="8" name="Rounded Rectangle 7"/>
          <p:cNvSpPr/>
          <p:nvPr/>
        </p:nvSpPr>
        <p:spPr>
          <a:xfrm>
            <a:off x="6355080" y="3749039"/>
            <a:ext cx="5303520" cy="1051560"/>
          </a:xfrm>
          <a:prstGeom prst="roundRect">
            <a:avLst/>
          </a:prstGeom>
          <a:solidFill>
            <a:srgbClr val="FBF0E0"/>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B87A1A"/>
                </a:solidFill>
              </a:rPr>
              <a:t>Why that ratio matters</a:t>
            </a:r>
          </a:p>
          <a:p>
            <a:r>
              <a:rPr sz="1000">
                <a:solidFill>
                  <a:srgbClr val="5A5A5A"/>
                </a:solidFill>
              </a:rPr>
              <a:t>Almost all LLM spend is re-sending the same system prompt. Caching the prefix,</a:t>
            </a:r>
          </a:p>
          <a:p>
            <a:r>
              <a:rPr sz="1000">
                <a:solidFill>
                  <a:srgbClr val="5A5A5A"/>
                </a:solidFill>
              </a:rPr>
              <a:t>and routing trivial turns to a smaller model, cut it without touching quality.</a:t>
            </a:r>
          </a:p>
        </p:txBody>
      </p:sp>
      <p:graphicFrame>
        <p:nvGraphicFramePr>
          <p:cNvPr id="9" name="Table 8"/>
          <p:cNvGraphicFramePr>
            <a:graphicFrameLocks noGrp="1"/>
          </p:cNvGraphicFramePr>
          <p:nvPr/>
        </p:nvGraphicFramePr>
        <p:xfrm>
          <a:off x="502920" y="3977639"/>
          <a:ext cx="5577840" cy="2194560"/>
        </p:xfrm>
        <a:graphic>
          <a:graphicData uri="http://schemas.openxmlformats.org/drawingml/2006/table">
            <a:tbl>
              <a:tblPr firstRow="1" bandRow="1">
                <a:tableStyleId>{5C22544A-7EE6-4342-B048-85BDC9FD1C3A}</a:tableStyleId>
              </a:tblPr>
              <a:tblGrid>
                <a:gridCol w="2926080"/>
                <a:gridCol w="2651760"/>
              </a:tblGrid>
              <a:tr h="365760">
                <a:tc>
                  <a:txBody>
                    <a:bodyPr wrap="square"/>
                    <a:lstStyle/>
                    <a:p>
                      <a:r>
                        <a:rPr sz="1000" b="1">
                          <a:solidFill>
                            <a:srgbClr val="FFFFFF"/>
                          </a:solidFill>
                        </a:rPr>
                        <a:t>One-time (OTC)</a:t>
                      </a:r>
                    </a:p>
                  </a:txBody>
                  <a:tcPr>
                    <a:solidFill>
                      <a:srgbClr val="0F1E3C"/>
                    </a:solidFill>
                  </a:tcPr>
                </a:tc>
                <a:tc>
                  <a:txBody>
                    <a:bodyPr wrap="square"/>
                    <a:lstStyle/>
                    <a:p>
                      <a:r>
                        <a:rPr sz="1000" b="1">
                          <a:solidFill>
                            <a:srgbClr val="FFFFFF"/>
                          </a:solidFill>
                        </a:rPr>
                        <a:t>Recurring / month</a:t>
                      </a:r>
                    </a:p>
                  </a:txBody>
                  <a:tcPr>
                    <a:solidFill>
                      <a:srgbClr val="0F1E3C"/>
                    </a:solidFill>
                  </a:tcPr>
                </a:tc>
              </a:tr>
              <a:tr h="365760">
                <a:tc>
                  <a:txBody>
                    <a:bodyPr wrap="square"/>
                    <a:lstStyle/>
                    <a:p>
                      <a:r>
                        <a:rPr sz="950" b="0">
                          <a:solidFill>
                            <a:srgbClr val="0F1E3C"/>
                          </a:solidFill>
                        </a:rPr>
                        <a:t>Integration: LMS, payment, WhatsApp</a:t>
                      </a:r>
                    </a:p>
                  </a:txBody>
                  <a:tcPr>
                    <a:solidFill>
                      <a:srgbClr val="FFFFFF"/>
                    </a:solidFill>
                  </a:tcPr>
                </a:tc>
                <a:tc>
                  <a:txBody>
                    <a:bodyPr wrap="square"/>
                    <a:lstStyle/>
                    <a:p>
                      <a:r>
                        <a:rPr sz="950" b="0">
                          <a:solidFill>
                            <a:srgbClr val="0F1E3C"/>
                          </a:solidFill>
                        </a:rPr>
                        <a:t>Sarvam API usage (per call above)</a:t>
                      </a:r>
                    </a:p>
                  </a:txBody>
                  <a:tcPr>
                    <a:solidFill>
                      <a:srgbClr val="FFFFFF"/>
                    </a:solidFill>
                  </a:tcPr>
                </a:tc>
              </a:tr>
              <a:tr h="365760">
                <a:tc>
                  <a:txBody>
                    <a:bodyPr wrap="square"/>
                    <a:lstStyle/>
                    <a:p>
                      <a:r>
                        <a:rPr sz="950" b="0">
                          <a:solidFill>
                            <a:srgbClr val="0F1E3C"/>
                          </a:solidFill>
                        </a:rPr>
                        <a:t>SBC / telephony setup</a:t>
                      </a:r>
                    </a:p>
                  </a:txBody>
                  <a:tcPr>
                    <a:solidFill>
                      <a:srgbClr val="F2F5F9"/>
                    </a:solidFill>
                  </a:tcPr>
                </a:tc>
                <a:tc>
                  <a:txBody>
                    <a:bodyPr wrap="square"/>
                    <a:lstStyle/>
                    <a:p>
                      <a:r>
                        <a:rPr sz="950" b="0">
                          <a:solidFill>
                            <a:srgbClr val="0F1E3C"/>
                          </a:solidFill>
                        </a:rPr>
                        <a:t>DID rental + carrier minutes</a:t>
                      </a:r>
                    </a:p>
                  </a:txBody>
                  <a:tcPr>
                    <a:solidFill>
                      <a:srgbClr val="F2F5F9"/>
                    </a:solidFill>
                  </a:tcPr>
                </a:tc>
              </a:tr>
              <a:tr h="365760">
                <a:tc>
                  <a:txBody>
                    <a:bodyPr wrap="square"/>
                    <a:lstStyle/>
                    <a:p>
                      <a:r>
                        <a:rPr sz="950" b="0">
                          <a:solidFill>
                            <a:srgbClr val="0F1E3C"/>
                          </a:solidFill>
                        </a:rPr>
                        <a:t>Prompt + guardrail tuning per language</a:t>
                      </a:r>
                    </a:p>
                  </a:txBody>
                  <a:tcPr>
                    <a:solidFill>
                      <a:srgbClr val="FFFFFF"/>
                    </a:solidFill>
                  </a:tcPr>
                </a:tc>
                <a:tc>
                  <a:txBody>
                    <a:bodyPr wrap="square"/>
                    <a:lstStyle/>
                    <a:p>
                      <a:r>
                        <a:rPr sz="950" b="0">
                          <a:solidFill>
                            <a:srgbClr val="0F1E3C"/>
                          </a:solidFill>
                        </a:rPr>
                        <a:t>Recording storage and retention</a:t>
                      </a:r>
                    </a:p>
                  </a:txBody>
                  <a:tcPr>
                    <a:solidFill>
                      <a:srgbClr val="FFFFFF"/>
                    </a:solidFill>
                  </a:tcPr>
                </a:tc>
              </a:tr>
              <a:tr h="365760">
                <a:tc>
                  <a:txBody>
                    <a:bodyPr wrap="square"/>
                    <a:lstStyle/>
                    <a:p>
                      <a:r>
                        <a:rPr sz="950" b="0">
                          <a:solidFill>
                            <a:srgbClr val="0F1E3C"/>
                          </a:solidFill>
                        </a:rPr>
                        <a:t>UAT, compliance sign-off, DLT registration</a:t>
                      </a:r>
                    </a:p>
                  </a:txBody>
                  <a:tcPr>
                    <a:solidFill>
                      <a:srgbClr val="F2F5F9"/>
                    </a:solidFill>
                  </a:tcPr>
                </a:tc>
                <a:tc>
                  <a:txBody>
                    <a:bodyPr wrap="square"/>
                    <a:lstStyle/>
                    <a:p>
                      <a:r>
                        <a:rPr sz="950" b="0">
                          <a:solidFill>
                            <a:srgbClr val="0F1E3C"/>
                          </a:solidFill>
                        </a:rPr>
                        <a:t>App compute — stateless, scales horizontally</a:t>
                      </a:r>
                    </a:p>
                  </a:txBody>
                  <a:tcPr>
                    <a:solidFill>
                      <a:srgbClr val="F2F5F9"/>
                    </a:solidFill>
                  </a:tcPr>
                </a:tc>
              </a:tr>
              <a:tr h="365760">
                <a:tc>
                  <a:txBody>
                    <a:bodyPr wrap="square"/>
                    <a:lstStyle/>
                    <a:p>
                      <a:r>
                        <a:rPr sz="950" b="1">
                          <a:solidFill>
                            <a:srgbClr val="0F1E3C"/>
                          </a:solidFill>
                        </a:rPr>
                        <a:t>Hybrid/on-prem: GPU capacity planning</a:t>
                      </a:r>
                    </a:p>
                  </a:txBody>
                  <a:tcPr>
                    <a:solidFill>
                      <a:srgbClr val="FFFFFF"/>
                    </a:solidFill>
                  </a:tcPr>
                </a:tc>
                <a:tc>
                  <a:txBody>
                    <a:bodyPr wrap="square"/>
                    <a:lstStyle/>
                    <a:p>
                      <a:r>
                        <a:rPr sz="950" b="1">
                          <a:solidFill>
                            <a:srgbClr val="0F1E3C"/>
                          </a:solidFill>
                        </a:rPr>
                        <a:t>In-VPC deployment: GPU or Azure ND-series</a:t>
                      </a:r>
                    </a:p>
                  </a:txBody>
                  <a:tcPr>
                    <a:solidFill>
                      <a:srgbClr val="FFFFFF"/>
                    </a:solidFill>
                  </a:tcPr>
                </a:tc>
              </a:tr>
            </a:tbl>
          </a:graphicData>
        </a:graphic>
      </p:graphicFrame>
      <p:sp>
        <p:nvSpPr>
          <p:cNvPr id="10" name="TextBox 9"/>
          <p:cNvSpPr txBox="1"/>
          <p:nvPr/>
        </p:nvSpPr>
        <p:spPr>
          <a:xfrm>
            <a:off x="502920" y="6263640"/>
            <a:ext cx="11155680" cy="365760"/>
          </a:xfrm>
          <a:prstGeom prst="rect">
            <a:avLst/>
          </a:prstGeom>
          <a:noFill/>
        </p:spPr>
        <p:txBody>
          <a:bodyPr wrap="square" lIns="0" rIns="0" tIns="0" bIns="0">
            <a:spAutoFit/>
          </a:bodyPr>
          <a:lstStyle/>
          <a:p>
            <a:pPr algn="l">
              <a:lnSpc>
                <a:spcPct val="100000"/>
              </a:lnSpc>
            </a:pPr>
            <a:r>
              <a:rPr sz="900" b="0">
                <a:solidFill>
                  <a:srgbClr val="5A5A5A"/>
                </a:solidFill>
                <a:latin typeface="Calibri"/>
              </a:rPr>
              <a:t>Not in the per-call figure: engineering effort, SBC infrastructure, in-VPC GPU compute, DID minimums, retention storage, and the human capacity still needed for escalations.</a:t>
            </a:r>
          </a:p>
        </p:txBody>
      </p:sp>
      <p:sp>
        <p:nvSpPr>
          <p:cNvPr id="11" name="TextBox 10"/>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ROI</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The number to present is per successful contact</a:t>
            </a:r>
          </a:p>
        </p:txBody>
      </p:sp>
      <p:sp>
        <p:nvSpPr>
          <p:cNvPr id="5" name="Rounded Rectangle 4"/>
          <p:cNvSpPr/>
          <p:nvPr/>
        </p:nvSpPr>
        <p:spPr>
          <a:xfrm>
            <a:off x="502920" y="1371600"/>
            <a:ext cx="3520440" cy="1371600"/>
          </a:xfrm>
          <a:prstGeom prst="roundRect">
            <a:avLst/>
          </a:prstGeom>
          <a:solidFill>
            <a:srgbClr val="ECF4EC"/>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3000" b="1">
                <a:solidFill>
                  <a:srgbClr val="1E7A3C"/>
                </a:solidFill>
              </a:rPr>
              <a:t>₹3.85 lakh</a:t>
            </a:r>
          </a:p>
          <a:p>
            <a:r>
              <a:rPr sz="1100">
                <a:solidFill>
                  <a:srgbClr val="5A5A5A"/>
                </a:solidFill>
              </a:rPr>
              <a:t/>
            </a:r>
          </a:p>
          <a:p>
            <a:r>
              <a:rPr sz="1100">
                <a:solidFill>
                  <a:srgbClr val="5A5A5A"/>
                </a:solidFill>
              </a:rPr>
              <a:t>Direct saving per month</a:t>
            </a:r>
          </a:p>
          <a:p>
            <a:r>
              <a:rPr sz="1100">
                <a:solidFill>
                  <a:srgbClr val="5A5A5A"/>
                </a:solidFill>
              </a:rPr>
              <a:t>at 10,000 calls, 70% automated</a:t>
            </a:r>
          </a:p>
        </p:txBody>
      </p:sp>
      <p:sp>
        <p:nvSpPr>
          <p:cNvPr id="6" name="Rounded Rectangle 5"/>
          <p:cNvSpPr/>
          <p:nvPr/>
        </p:nvSpPr>
        <p:spPr>
          <a:xfrm>
            <a:off x="4297680" y="1371600"/>
            <a:ext cx="3520440" cy="1371600"/>
          </a:xfrm>
          <a:prstGeom prst="roundRect">
            <a:avLst/>
          </a:prstGeom>
          <a:solidFill>
            <a:srgbClr val="ECF2FA"/>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3000" b="1">
                <a:solidFill>
                  <a:srgbClr val="1F5FA8"/>
                </a:solidFill>
              </a:rPr>
              <a:t>100%</a:t>
            </a:r>
          </a:p>
          <a:p>
            <a:r>
              <a:rPr sz="1100">
                <a:solidFill>
                  <a:srgbClr val="5A5A5A"/>
                </a:solidFill>
              </a:rPr>
              <a:t/>
            </a:r>
          </a:p>
          <a:p>
            <a:r>
              <a:rPr sz="1100">
                <a:solidFill>
                  <a:srgbClr val="5A5A5A"/>
                </a:solidFill>
              </a:rPr>
              <a:t>of calls scored for compliance</a:t>
            </a:r>
          </a:p>
          <a:p>
            <a:r>
              <a:rPr sz="1100">
                <a:solidFill>
                  <a:srgbClr val="5A5A5A"/>
                </a:solidFill>
              </a:rPr>
              <a:t>against a ~2% human sample</a:t>
            </a:r>
          </a:p>
        </p:txBody>
      </p:sp>
      <p:sp>
        <p:nvSpPr>
          <p:cNvPr id="7" name="Rounded Rectangle 6"/>
          <p:cNvSpPr/>
          <p:nvPr/>
        </p:nvSpPr>
        <p:spPr>
          <a:xfrm>
            <a:off x="8092440" y="1371600"/>
            <a:ext cx="3566160" cy="1371600"/>
          </a:xfrm>
          <a:prstGeom prst="roundRect">
            <a:avLst/>
          </a:prstGeom>
          <a:solidFill>
            <a:srgbClr val="E8F4F4"/>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3000" b="1">
                <a:solidFill>
                  <a:srgbClr val="118A8A"/>
                </a:solidFill>
              </a:rPr>
              <a:t>≈1 second</a:t>
            </a:r>
          </a:p>
          <a:p>
            <a:r>
              <a:rPr sz="1100">
                <a:solidFill>
                  <a:srgbClr val="5A5A5A"/>
                </a:solidFill>
              </a:rPr>
              <a:t/>
            </a:r>
          </a:p>
          <a:p>
            <a:r>
              <a:rPr sz="1100">
                <a:solidFill>
                  <a:srgbClr val="5A5A5A"/>
                </a:solidFill>
              </a:rPr>
              <a:t>felt turn latency</a:t>
            </a:r>
          </a:p>
          <a:p>
            <a:r>
              <a:rPr sz="1100">
                <a:solidFill>
                  <a:srgbClr val="5A5A5A"/>
                </a:solidFill>
              </a:rPr>
              <a:t>146 ms to first token</a:t>
            </a:r>
          </a:p>
        </p:txBody>
      </p:sp>
      <p:graphicFrame>
        <p:nvGraphicFramePr>
          <p:cNvPr id="8" name="Table 7"/>
          <p:cNvGraphicFramePr>
            <a:graphicFrameLocks noGrp="1"/>
          </p:cNvGraphicFramePr>
          <p:nvPr/>
        </p:nvGraphicFramePr>
        <p:xfrm>
          <a:off x="502920" y="2971800"/>
          <a:ext cx="5577840" cy="2304288"/>
        </p:xfrm>
        <a:graphic>
          <a:graphicData uri="http://schemas.openxmlformats.org/drawingml/2006/table">
            <a:tbl>
              <a:tblPr firstRow="1" bandRow="1">
                <a:tableStyleId>{5C22544A-7EE6-4342-B048-85BDC9FD1C3A}</a:tableStyleId>
              </a:tblPr>
              <a:tblGrid>
                <a:gridCol w="3291840"/>
                <a:gridCol w="2286000"/>
              </a:tblGrid>
              <a:tr h="384048">
                <a:tc>
                  <a:txBody>
                    <a:bodyPr wrap="square"/>
                    <a:lstStyle/>
                    <a:p>
                      <a:r>
                        <a:rPr sz="1000" b="1">
                          <a:solidFill>
                            <a:srgbClr val="FFFFFF"/>
                          </a:solidFill>
                        </a:rPr>
                        <a:t>Monthly model</a:t>
                      </a:r>
                    </a:p>
                  </a:txBody>
                  <a:tcPr>
                    <a:solidFill>
                      <a:srgbClr val="0F1E3C"/>
                    </a:solidFill>
                  </a:tcPr>
                </a:tc>
                <a:tc>
                  <a:txBody>
                    <a:bodyPr wrap="square"/>
                    <a:lstStyle/>
                    <a:p>
                      <a:r>
                        <a:rPr sz="1000" b="1">
                          <a:solidFill>
                            <a:srgbClr val="FFFFFF"/>
                          </a:solidFill>
                        </a:rPr>
                        <a:t>Value</a:t>
                      </a:r>
                    </a:p>
                  </a:txBody>
                  <a:tcPr>
                    <a:solidFill>
                      <a:srgbClr val="0F1E3C"/>
                    </a:solidFill>
                  </a:tcPr>
                </a:tc>
              </a:tr>
              <a:tr h="384048">
                <a:tc>
                  <a:txBody>
                    <a:bodyPr wrap="square"/>
                    <a:lstStyle/>
                    <a:p>
                      <a:r>
                        <a:rPr sz="1100" b="0">
                          <a:solidFill>
                            <a:srgbClr val="0F1E3C"/>
                          </a:solidFill>
                        </a:rPr>
                        <a:t>Reminder calls / month</a:t>
                      </a:r>
                    </a:p>
                  </a:txBody>
                  <a:tcPr>
                    <a:solidFill>
                      <a:srgbClr val="FFFFFF"/>
                    </a:solidFill>
                  </a:tcPr>
                </a:tc>
                <a:tc>
                  <a:txBody>
                    <a:bodyPr wrap="square"/>
                    <a:lstStyle/>
                    <a:p>
                      <a:r>
                        <a:rPr sz="1100" b="0">
                          <a:solidFill>
                            <a:srgbClr val="0F1E3C"/>
                          </a:solidFill>
                        </a:rPr>
                        <a:t>10,000</a:t>
                      </a:r>
                    </a:p>
                  </a:txBody>
                  <a:tcPr>
                    <a:solidFill>
                      <a:srgbClr val="FFFFFF"/>
                    </a:solidFill>
                  </a:tcPr>
                </a:tc>
              </a:tr>
              <a:tr h="384048">
                <a:tc>
                  <a:txBody>
                    <a:bodyPr wrap="square"/>
                    <a:lstStyle/>
                    <a:p>
                      <a:r>
                        <a:rPr sz="1100" b="0">
                          <a:solidFill>
                            <a:srgbClr val="0F1E3C"/>
                          </a:solidFill>
                        </a:rPr>
                        <a:t>Automated share</a:t>
                      </a:r>
                    </a:p>
                  </a:txBody>
                  <a:tcPr>
                    <a:solidFill>
                      <a:srgbClr val="F2F5F9"/>
                    </a:solidFill>
                  </a:tcPr>
                </a:tc>
                <a:tc>
                  <a:txBody>
                    <a:bodyPr wrap="square"/>
                    <a:lstStyle/>
                    <a:p>
                      <a:r>
                        <a:rPr sz="1100" b="0">
                          <a:solidFill>
                            <a:srgbClr val="0F1E3C"/>
                          </a:solidFill>
                        </a:rPr>
                        <a:t>70%  (7,000 calls)</a:t>
                      </a:r>
                    </a:p>
                  </a:txBody>
                  <a:tcPr>
                    <a:solidFill>
                      <a:srgbClr val="F2F5F9"/>
                    </a:solidFill>
                  </a:tcPr>
                </a:tc>
              </a:tr>
              <a:tr h="384048">
                <a:tc>
                  <a:txBody>
                    <a:bodyPr wrap="square"/>
                    <a:lstStyle/>
                    <a:p>
                      <a:r>
                        <a:rPr sz="1100" b="0">
                          <a:solidFill>
                            <a:srgbClr val="0F1E3C"/>
                          </a:solidFill>
                        </a:rPr>
                        <a:t>Human cost avoided</a:t>
                      </a:r>
                    </a:p>
                  </a:txBody>
                  <a:tcPr>
                    <a:solidFill>
                      <a:srgbClr val="FFFFFF"/>
                    </a:solidFill>
                  </a:tcPr>
                </a:tc>
                <a:tc>
                  <a:txBody>
                    <a:bodyPr wrap="square"/>
                    <a:lstStyle/>
                    <a:p>
                      <a:r>
                        <a:rPr sz="1100" b="0">
                          <a:solidFill>
                            <a:srgbClr val="0F1E3C"/>
                          </a:solidFill>
                        </a:rPr>
                        <a:t>₹60 / call</a:t>
                      </a:r>
                    </a:p>
                  </a:txBody>
                  <a:tcPr>
                    <a:solidFill>
                      <a:srgbClr val="FFFFFF"/>
                    </a:solidFill>
                  </a:tcPr>
                </a:tc>
              </a:tr>
              <a:tr h="384048">
                <a:tc>
                  <a:txBody>
                    <a:bodyPr wrap="square"/>
                    <a:lstStyle/>
                    <a:p>
                      <a:r>
                        <a:rPr sz="1100" b="0">
                          <a:solidFill>
                            <a:srgbClr val="0F1E3C"/>
                          </a:solidFill>
                        </a:rPr>
                        <a:t>Automated cost</a:t>
                      </a:r>
                    </a:p>
                  </a:txBody>
                  <a:tcPr>
                    <a:solidFill>
                      <a:srgbClr val="F2F5F9"/>
                    </a:solidFill>
                  </a:tcPr>
                </a:tc>
                <a:tc>
                  <a:txBody>
                    <a:bodyPr wrap="square"/>
                    <a:lstStyle/>
                    <a:p>
                      <a:r>
                        <a:rPr sz="1100" b="0">
                          <a:solidFill>
                            <a:srgbClr val="0F1E3C"/>
                          </a:solidFill>
                        </a:rPr>
                        <a:t>₹5 / call</a:t>
                      </a:r>
                    </a:p>
                  </a:txBody>
                  <a:tcPr>
                    <a:solidFill>
                      <a:srgbClr val="F2F5F9"/>
                    </a:solidFill>
                  </a:tcPr>
                </a:tc>
              </a:tr>
              <a:tr h="384048">
                <a:tc>
                  <a:txBody>
                    <a:bodyPr wrap="square"/>
                    <a:lstStyle/>
                    <a:p>
                      <a:r>
                        <a:rPr sz="1100" b="1">
                          <a:solidFill>
                            <a:srgbClr val="0F1E3C"/>
                          </a:solidFill>
                        </a:rPr>
                        <a:t>Direct saving</a:t>
                      </a:r>
                    </a:p>
                  </a:txBody>
                  <a:tcPr>
                    <a:solidFill>
                      <a:srgbClr val="FFFFFF"/>
                    </a:solidFill>
                  </a:tcPr>
                </a:tc>
                <a:tc>
                  <a:txBody>
                    <a:bodyPr wrap="square"/>
                    <a:lstStyle/>
                    <a:p>
                      <a:r>
                        <a:rPr sz="1100" b="1">
                          <a:solidFill>
                            <a:srgbClr val="0F1E3C"/>
                          </a:solidFill>
                        </a:rPr>
                        <a:t>7,000 × ₹55 ≈ ₹3.85 lakh / month</a:t>
                      </a:r>
                    </a:p>
                  </a:txBody>
                  <a:tcPr>
                    <a:solidFill>
                      <a:srgbClr val="FFFFFF"/>
                    </a:solidFill>
                  </a:tcPr>
                </a:tc>
              </a:tr>
            </a:tbl>
          </a:graphicData>
        </a:graphic>
      </p:graphicFrame>
      <p:sp>
        <p:nvSpPr>
          <p:cNvPr id="9" name="Rounded Rectangle 8"/>
          <p:cNvSpPr/>
          <p:nvPr/>
        </p:nvSpPr>
        <p:spPr>
          <a:xfrm>
            <a:off x="6355080" y="2971800"/>
            <a:ext cx="5303520" cy="192024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 per successful contact</a:t>
            </a:r>
          </a:p>
          <a:p>
            <a:r>
              <a:rPr sz="1100">
                <a:solidFill>
                  <a:srgbClr val="5A5A5A"/>
                </a:solidFill>
              </a:rPr>
              <a:t/>
            </a:r>
          </a:p>
          <a:p>
            <a:r>
              <a:rPr sz="1100">
                <a:solidFill>
                  <a:srgbClr val="5A5A5A"/>
                </a:solidFill>
              </a:rPr>
              <a:t>Not ₹/minute, and not ₹/call.</a:t>
            </a:r>
          </a:p>
          <a:p>
            <a:r>
              <a:rPr sz="1100">
                <a:solidFill>
                  <a:srgbClr val="5A5A5A"/>
                </a:solidFill>
              </a:rPr>
              <a:t/>
            </a:r>
          </a:p>
          <a:p>
            <a:r>
              <a:rPr sz="1100">
                <a:solidFill>
                  <a:srgbClr val="5A5A5A"/>
                </a:solidFill>
              </a:rPr>
              <a:t>     campaign cost ÷ calls reaching a real outcome</a:t>
            </a:r>
          </a:p>
          <a:p>
            <a:r>
              <a:rPr sz="1100">
                <a:solidFill>
                  <a:srgbClr val="5A5A5A"/>
                </a:solidFill>
              </a:rPr>
              <a:t/>
            </a:r>
          </a:p>
          <a:p>
            <a:r>
              <a:rPr sz="1100">
                <a:solidFill>
                  <a:srgbClr val="5A5A5A"/>
                </a:solidFill>
              </a:rPr>
              <a:t>≈₹3.80/call becomes ≈₹5.75 per successful contact</a:t>
            </a:r>
          </a:p>
          <a:p>
            <a:r>
              <a:rPr sz="1100">
                <a:solidFill>
                  <a:srgbClr val="5A5A5A"/>
                </a:solidFill>
              </a:rPr>
              <a:t>against a human baseline of ~₹60 at comparable success.</a:t>
            </a:r>
          </a:p>
        </p:txBody>
      </p:sp>
      <p:sp>
        <p:nvSpPr>
          <p:cNvPr id="10" name="Rounded Rectangle 9"/>
          <p:cNvSpPr/>
          <p:nvPr/>
        </p:nvSpPr>
        <p:spPr>
          <a:xfrm>
            <a:off x="502920" y="5120640"/>
            <a:ext cx="11155680" cy="960120"/>
          </a:xfrm>
          <a:prstGeom prst="roundRect">
            <a:avLst/>
          </a:prstGeom>
          <a:solidFill>
            <a:srgbClr val="FBF0E0"/>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B87A1A"/>
                </a:solidFill>
              </a:rPr>
              <a:t>Where the case is strong, and where it is not</a:t>
            </a:r>
          </a:p>
          <a:p>
            <a:r>
              <a:rPr sz="1000">
                <a:solidFill>
                  <a:srgbClr val="5A5A5A"/>
                </a:solidFill>
              </a:rPr>
              <a:t>Strong: the saving is dominated by the ₹40–80 human baseline, so it survives the AI rates being wrong by 2×. And 100% QA has no</a:t>
            </a:r>
          </a:p>
          <a:p>
            <a:r>
              <a:rPr sz="1000">
                <a:solidFill>
                  <a:srgbClr val="5A5A5A"/>
                </a:solidFill>
              </a:rPr>
              <a:t>human equivalent at any price.        Weaker: recovery-rate uplift is unproven here — this PoC made three verified calls, which is far too</a:t>
            </a:r>
          </a:p>
          <a:p>
            <a:r>
              <a:rPr sz="1000">
                <a:solidFill>
                  <a:srgbClr val="5A5A5A"/>
                </a:solidFill>
              </a:rPr>
              <a:t>small a sample to extrapolate a PTP rate from. Present the cost case as measured and the recovery case as a hypothesis to test in pilot.</a:t>
            </a:r>
          </a:p>
        </p:txBody>
      </p:sp>
      <p:sp>
        <p:nvSpPr>
          <p:cNvPr id="11" name="TextBox 10"/>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74320"/>
          </a:xfrm>
          <a:prstGeom prst="rect">
            <a:avLst/>
          </a:prstGeom>
          <a:noFill/>
        </p:spPr>
        <p:txBody>
          <a:bodyPr wrap="square" lIns="0" rIns="0" tIns="0" bIns="0">
            <a:spAutoFit/>
          </a:bodyPr>
          <a:lstStyle/>
          <a:p>
            <a:pPr algn="l">
              <a:lnSpc>
                <a:spcPct val="100000"/>
              </a:lnSpc>
            </a:pPr>
            <a:r>
              <a:rPr sz="1000" b="1">
                <a:solidFill>
                  <a:srgbClr val="8FB4E0"/>
                </a:solidFill>
                <a:latin typeface="Calibri"/>
              </a:rPr>
              <a:t>DEPLOYMENT</a:t>
            </a:r>
          </a:p>
        </p:txBody>
      </p:sp>
      <p:sp>
        <p:nvSpPr>
          <p:cNvPr id="4" name="TextBox 3"/>
          <p:cNvSpPr txBox="1"/>
          <p:nvPr/>
        </p:nvSpPr>
        <p:spPr>
          <a:xfrm>
            <a:off x="502920" y="429768"/>
            <a:ext cx="11155680" cy="457200"/>
          </a:xfrm>
          <a:prstGeom prst="rect">
            <a:avLst/>
          </a:prstGeom>
          <a:noFill/>
        </p:spPr>
        <p:txBody>
          <a:bodyPr wrap="square" lIns="0" rIns="0" tIns="0" bIns="0">
            <a:spAutoFit/>
          </a:bodyPr>
          <a:lstStyle/>
          <a:p>
            <a:pPr algn="l">
              <a:lnSpc>
                <a:spcPct val="100000"/>
              </a:lnSpc>
            </a:pPr>
            <a:r>
              <a:rPr sz="2400" b="1">
                <a:solidFill>
                  <a:srgbClr val="FFFFFF"/>
                </a:solidFill>
                <a:latin typeface="Calibri"/>
              </a:rPr>
              <a:t>Timeline to a live pilot</a:t>
            </a:r>
          </a:p>
        </p:txBody>
      </p:sp>
      <p:sp>
        <p:nvSpPr>
          <p:cNvPr id="5" name="Rounded Rectangle 4"/>
          <p:cNvSpPr/>
          <p:nvPr/>
        </p:nvSpPr>
        <p:spPr>
          <a:xfrm>
            <a:off x="502920" y="1463040"/>
            <a:ext cx="2103120" cy="502920"/>
          </a:xfrm>
          <a:prstGeom prst="round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Week 1</a:t>
            </a:r>
          </a:p>
        </p:txBody>
      </p:sp>
      <p:sp>
        <p:nvSpPr>
          <p:cNvPr id="6" name="TextBox 5"/>
          <p:cNvSpPr txBox="1"/>
          <p:nvPr/>
        </p:nvSpPr>
        <p:spPr>
          <a:xfrm>
            <a:off x="502920" y="2057400"/>
            <a:ext cx="2103120" cy="274320"/>
          </a:xfrm>
          <a:prstGeom prst="rect">
            <a:avLst/>
          </a:prstGeom>
          <a:noFill/>
        </p:spPr>
        <p:txBody>
          <a:bodyPr wrap="square" lIns="0" rIns="0" tIns="0" bIns="0">
            <a:spAutoFit/>
          </a:bodyPr>
          <a:lstStyle/>
          <a:p>
            <a:pPr algn="ctr">
              <a:lnSpc>
                <a:spcPct val="100000"/>
              </a:lnSpc>
            </a:pPr>
            <a:r>
              <a:rPr sz="1200" b="1">
                <a:solidFill>
                  <a:srgbClr val="1F5FA8"/>
                </a:solidFill>
                <a:latin typeface="Calibri"/>
              </a:rPr>
              <a:t>Foundations</a:t>
            </a:r>
          </a:p>
        </p:txBody>
      </p:sp>
      <p:sp>
        <p:nvSpPr>
          <p:cNvPr id="7" name="Rounded Rectangle 6"/>
          <p:cNvSpPr/>
          <p:nvPr/>
        </p:nvSpPr>
        <p:spPr>
          <a:xfrm>
            <a:off x="502920" y="2423160"/>
            <a:ext cx="2103120" cy="201168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
            </a:r>
          </a:p>
          <a:p>
            <a:r>
              <a:rPr sz="950">
                <a:solidFill>
                  <a:srgbClr val="5A5A5A"/>
                </a:solidFill>
              </a:rPr>
              <a:t>Postgres, hosting, HTTPS ingress</a:t>
            </a:r>
          </a:p>
          <a:p>
            <a:r>
              <a:rPr sz="950">
                <a:solidFill>
                  <a:srgbClr val="5A5A5A"/>
                </a:solidFill>
              </a:rPr>
              <a:t>Carrier account opened — KYC and</a:t>
            </a:r>
          </a:p>
          <a:p>
            <a:r>
              <a:rPr sz="950">
                <a:solidFill>
                  <a:srgbClr val="5A5A5A"/>
                </a:solidFill>
              </a:rPr>
              <a:t>the India regulatory bundle start here</a:t>
            </a:r>
          </a:p>
        </p:txBody>
      </p:sp>
      <p:sp>
        <p:nvSpPr>
          <p:cNvPr id="8" name="Right Arrow 7"/>
          <p:cNvSpPr/>
          <p:nvPr/>
        </p:nvSpPr>
        <p:spPr>
          <a:xfrm>
            <a:off x="2633472" y="1627632"/>
            <a:ext cx="137160" cy="201168"/>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70632" y="1463040"/>
            <a:ext cx="2103120" cy="502920"/>
          </a:xfrm>
          <a:prstGeom prst="roundRect">
            <a:avLst/>
          </a:prstGeom>
          <a:solidFill>
            <a:srgbClr val="11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Week 2–3</a:t>
            </a:r>
          </a:p>
        </p:txBody>
      </p:sp>
      <p:sp>
        <p:nvSpPr>
          <p:cNvPr id="10" name="TextBox 9"/>
          <p:cNvSpPr txBox="1"/>
          <p:nvPr/>
        </p:nvSpPr>
        <p:spPr>
          <a:xfrm>
            <a:off x="2770632" y="2057400"/>
            <a:ext cx="2103120" cy="274320"/>
          </a:xfrm>
          <a:prstGeom prst="rect">
            <a:avLst/>
          </a:prstGeom>
          <a:noFill/>
        </p:spPr>
        <p:txBody>
          <a:bodyPr wrap="square" lIns="0" rIns="0" tIns="0" bIns="0">
            <a:spAutoFit/>
          </a:bodyPr>
          <a:lstStyle/>
          <a:p>
            <a:pPr algn="ctr">
              <a:lnSpc>
                <a:spcPct val="100000"/>
              </a:lnSpc>
            </a:pPr>
            <a:r>
              <a:rPr sz="1200" b="1">
                <a:solidFill>
                  <a:srgbClr val="118A8A"/>
                </a:solidFill>
                <a:latin typeface="Calibri"/>
              </a:rPr>
              <a:t>Telephony live</a:t>
            </a:r>
          </a:p>
        </p:txBody>
      </p:sp>
      <p:sp>
        <p:nvSpPr>
          <p:cNvPr id="11" name="Rounded Rectangle 10"/>
          <p:cNvSpPr/>
          <p:nvPr/>
        </p:nvSpPr>
        <p:spPr>
          <a:xfrm>
            <a:off x="2770632" y="2423160"/>
            <a:ext cx="2103120" cy="201168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
            </a:r>
          </a:p>
          <a:p>
            <a:r>
              <a:rPr sz="950">
                <a:solidFill>
                  <a:srgbClr val="5A5A5A"/>
                </a:solidFill>
              </a:rPr>
              <a:t>Number provisioned, SBC or CPaaS wired</a:t>
            </a:r>
          </a:p>
          <a:p>
            <a:r>
              <a:rPr sz="950">
                <a:solidFill>
                  <a:srgbClr val="5A5A5A"/>
                </a:solidFill>
              </a:rPr>
              <a:t>First dialled call end to end</a:t>
            </a:r>
          </a:p>
          <a:p>
            <a:r>
              <a:rPr sz="950">
                <a:solidFill>
                  <a:srgbClr val="5A5A5A"/>
                </a:solidFill>
              </a:rPr>
              <a:t>DLT registration if required</a:t>
            </a:r>
          </a:p>
        </p:txBody>
      </p:sp>
      <p:sp>
        <p:nvSpPr>
          <p:cNvPr id="12" name="Right Arrow 11"/>
          <p:cNvSpPr/>
          <p:nvPr/>
        </p:nvSpPr>
        <p:spPr>
          <a:xfrm>
            <a:off x="4901184" y="1627632"/>
            <a:ext cx="137160" cy="201168"/>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38344" y="1463040"/>
            <a:ext cx="2103120" cy="502920"/>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Week 3–4</a:t>
            </a:r>
          </a:p>
        </p:txBody>
      </p:sp>
      <p:sp>
        <p:nvSpPr>
          <p:cNvPr id="14" name="TextBox 13"/>
          <p:cNvSpPr txBox="1"/>
          <p:nvPr/>
        </p:nvSpPr>
        <p:spPr>
          <a:xfrm>
            <a:off x="5038344" y="2057400"/>
            <a:ext cx="2103120" cy="274320"/>
          </a:xfrm>
          <a:prstGeom prst="rect">
            <a:avLst/>
          </a:prstGeom>
          <a:noFill/>
        </p:spPr>
        <p:txBody>
          <a:bodyPr wrap="square" lIns="0" rIns="0" tIns="0" bIns="0">
            <a:spAutoFit/>
          </a:bodyPr>
          <a:lstStyle/>
          <a:p>
            <a:pPr algn="ctr">
              <a:lnSpc>
                <a:spcPct val="100000"/>
              </a:lnSpc>
            </a:pPr>
            <a:r>
              <a:rPr sz="1200" b="1">
                <a:solidFill>
                  <a:srgbClr val="1E7A3C"/>
                </a:solidFill>
                <a:latin typeface="Calibri"/>
              </a:rPr>
              <a:t>Integrations</a:t>
            </a:r>
          </a:p>
        </p:txBody>
      </p:sp>
      <p:sp>
        <p:nvSpPr>
          <p:cNvPr id="15" name="Rounded Rectangle 14"/>
          <p:cNvSpPr/>
          <p:nvPr/>
        </p:nvSpPr>
        <p:spPr>
          <a:xfrm>
            <a:off x="5038344" y="2423160"/>
            <a:ext cx="2103120" cy="201168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
            </a:r>
          </a:p>
          <a:p>
            <a:r>
              <a:rPr sz="950">
                <a:solidFill>
                  <a:srgbClr val="5A5A5A"/>
                </a:solidFill>
              </a:rPr>
              <a:t>LMS feed in, dispositions written back</a:t>
            </a:r>
          </a:p>
          <a:p>
            <a:r>
              <a:rPr sz="950">
                <a:solidFill>
                  <a:srgbClr val="5A5A5A"/>
                </a:solidFill>
              </a:rPr>
              <a:t>Payment-gateway link API</a:t>
            </a:r>
          </a:p>
          <a:p>
            <a:r>
              <a:rPr sz="950">
                <a:solidFill>
                  <a:srgbClr val="5A5A5A"/>
                </a:solidFill>
              </a:rPr>
              <a:t>WhatsApp template submitted for approval</a:t>
            </a:r>
          </a:p>
        </p:txBody>
      </p:sp>
      <p:sp>
        <p:nvSpPr>
          <p:cNvPr id="16" name="Right Arrow 15"/>
          <p:cNvSpPr/>
          <p:nvPr/>
        </p:nvSpPr>
        <p:spPr>
          <a:xfrm>
            <a:off x="7168896" y="1627632"/>
            <a:ext cx="137160" cy="201168"/>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06055" y="1463040"/>
            <a:ext cx="2103120" cy="502920"/>
          </a:xfrm>
          <a:prstGeom prst="roundRect">
            <a:avLst/>
          </a:prstGeom>
          <a:solidFill>
            <a:srgbClr val="B8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Week 5–6</a:t>
            </a:r>
          </a:p>
        </p:txBody>
      </p:sp>
      <p:sp>
        <p:nvSpPr>
          <p:cNvPr id="18" name="TextBox 17"/>
          <p:cNvSpPr txBox="1"/>
          <p:nvPr/>
        </p:nvSpPr>
        <p:spPr>
          <a:xfrm>
            <a:off x="7306055" y="2057400"/>
            <a:ext cx="2103120" cy="274320"/>
          </a:xfrm>
          <a:prstGeom prst="rect">
            <a:avLst/>
          </a:prstGeom>
          <a:noFill/>
        </p:spPr>
        <p:txBody>
          <a:bodyPr wrap="square" lIns="0" rIns="0" tIns="0" bIns="0">
            <a:spAutoFit/>
          </a:bodyPr>
          <a:lstStyle/>
          <a:p>
            <a:pPr algn="ctr">
              <a:lnSpc>
                <a:spcPct val="100000"/>
              </a:lnSpc>
            </a:pPr>
            <a:r>
              <a:rPr sz="1200" b="1">
                <a:solidFill>
                  <a:srgbClr val="B87A1A"/>
                </a:solidFill>
                <a:latin typeface="Calibri"/>
              </a:rPr>
              <a:t>Pilot</a:t>
            </a:r>
          </a:p>
        </p:txBody>
      </p:sp>
      <p:sp>
        <p:nvSpPr>
          <p:cNvPr id="19" name="Rounded Rectangle 18"/>
          <p:cNvSpPr/>
          <p:nvPr/>
        </p:nvSpPr>
        <p:spPr>
          <a:xfrm>
            <a:off x="7306055" y="2423160"/>
            <a:ext cx="2103120" cy="201168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
            </a:r>
          </a:p>
          <a:p>
            <a:r>
              <a:rPr sz="950">
                <a:solidFill>
                  <a:srgbClr val="5A5A5A"/>
                </a:solidFill>
              </a:rPr>
              <a:t>One bucket, one language, capped volume</a:t>
            </a:r>
          </a:p>
          <a:p>
            <a:r>
              <a:rPr sz="950">
                <a:solidFill>
                  <a:srgbClr val="5A5A5A"/>
                </a:solidFill>
              </a:rPr>
              <a:t>Compliance sign-off on recordings</a:t>
            </a:r>
          </a:p>
          <a:p>
            <a:r>
              <a:rPr sz="950">
                <a:solidFill>
                  <a:srgbClr val="5A5A5A"/>
                </a:solidFill>
              </a:rPr>
              <a:t>Tune prompts against real transcripts</a:t>
            </a:r>
          </a:p>
        </p:txBody>
      </p:sp>
      <p:sp>
        <p:nvSpPr>
          <p:cNvPr id="20" name="Right Arrow 19"/>
          <p:cNvSpPr/>
          <p:nvPr/>
        </p:nvSpPr>
        <p:spPr>
          <a:xfrm>
            <a:off x="9436608" y="1627632"/>
            <a:ext cx="137160" cy="201168"/>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73768" y="1463040"/>
            <a:ext cx="2103120" cy="502920"/>
          </a:xfrm>
          <a:prstGeom prst="roundRect">
            <a:avLst/>
          </a:prstGeom>
          <a:solidFill>
            <a:srgbClr val="0F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Week 7+</a:t>
            </a:r>
          </a:p>
        </p:txBody>
      </p:sp>
      <p:sp>
        <p:nvSpPr>
          <p:cNvPr id="22" name="TextBox 21"/>
          <p:cNvSpPr txBox="1"/>
          <p:nvPr/>
        </p:nvSpPr>
        <p:spPr>
          <a:xfrm>
            <a:off x="9573768" y="2057400"/>
            <a:ext cx="2103120" cy="274320"/>
          </a:xfrm>
          <a:prstGeom prst="rect">
            <a:avLst/>
          </a:prstGeom>
          <a:noFill/>
        </p:spPr>
        <p:txBody>
          <a:bodyPr wrap="square" lIns="0" rIns="0" tIns="0" bIns="0">
            <a:spAutoFit/>
          </a:bodyPr>
          <a:lstStyle/>
          <a:p>
            <a:pPr algn="ctr">
              <a:lnSpc>
                <a:spcPct val="100000"/>
              </a:lnSpc>
            </a:pPr>
            <a:r>
              <a:rPr sz="1200" b="1">
                <a:solidFill>
                  <a:srgbClr val="0F1E3C"/>
                </a:solidFill>
                <a:latin typeface="Calibri"/>
              </a:rPr>
              <a:t>Scale</a:t>
            </a:r>
          </a:p>
        </p:txBody>
      </p:sp>
      <p:sp>
        <p:nvSpPr>
          <p:cNvPr id="23" name="Rounded Rectangle 22"/>
          <p:cNvSpPr/>
          <p:nvPr/>
        </p:nvSpPr>
        <p:spPr>
          <a:xfrm>
            <a:off x="9573768" y="2423160"/>
            <a:ext cx="2103120" cy="2011680"/>
          </a:xfrm>
          <a:prstGeom prst="roundRect">
            <a:avLst/>
          </a:prstGeom>
          <a:solidFill>
            <a:srgbClr val="F2F5F9"/>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0F1E3C"/>
                </a:solidFill>
              </a:rPr>
              <a:t/>
            </a:r>
          </a:p>
          <a:p>
            <a:r>
              <a:rPr sz="950">
                <a:solidFill>
                  <a:srgbClr val="5A5A5A"/>
                </a:solidFill>
              </a:rPr>
              <a:t>Second language, wider buckets</a:t>
            </a:r>
          </a:p>
          <a:p>
            <a:r>
              <a:rPr sz="950">
                <a:solidFill>
                  <a:srgbClr val="5A5A5A"/>
                </a:solidFill>
              </a:rPr>
              <a:t>Warm transfer into the contact centre</a:t>
            </a:r>
          </a:p>
          <a:p>
            <a:r>
              <a:rPr sz="950">
                <a:solidFill>
                  <a:srgbClr val="5A5A5A"/>
                </a:solidFill>
              </a:rPr>
              <a:t>Recovery-rate measurement begins</a:t>
            </a:r>
          </a:p>
        </p:txBody>
      </p:sp>
      <p:sp>
        <p:nvSpPr>
          <p:cNvPr id="24" name="Rounded Rectangle 23"/>
          <p:cNvSpPr/>
          <p:nvPr/>
        </p:nvSpPr>
        <p:spPr>
          <a:xfrm>
            <a:off x="502920" y="4709160"/>
            <a:ext cx="11155680" cy="1371600"/>
          </a:xfrm>
          <a:prstGeom prst="roundRect">
            <a:avLst/>
          </a:prstGeom>
          <a:solidFill>
            <a:srgbClr val="FBF0E0"/>
          </a:solidFill>
          <a:ln w="9525">
            <a:solidFill>
              <a:srgbClr val="D0D8E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ctr"/>
            <a:r>
              <a:rPr sz="1300" b="1">
                <a:solidFill>
                  <a:srgbClr val="B87A1A"/>
                </a:solidFill>
              </a:rPr>
              <a:t>The critical path is paperwork, not engineering</a:t>
            </a:r>
          </a:p>
          <a:p>
            <a:r>
              <a:rPr sz="1100">
                <a:solidFill>
                  <a:srgbClr val="5A5A5A"/>
                </a:solidFill>
              </a:rPr>
              <a:t/>
            </a:r>
          </a:p>
          <a:p>
            <a:r>
              <a:rPr sz="1100">
                <a:solidFill>
                  <a:srgbClr val="5A5A5A"/>
                </a:solidFill>
              </a:rPr>
              <a:t>The agent is built. What stands between here and a pilot is a carrier number with KYC and an India regulatory bundle, a</a:t>
            </a:r>
          </a:p>
          <a:p>
            <a:r>
              <a:rPr sz="1100">
                <a:solidFill>
                  <a:srgbClr val="5A5A5A"/>
                </a:solidFill>
              </a:rPr>
              <a:t>WhatsApp template approval, and merchant onboarding for the payment gateway. Each is a human review measured in days.</a:t>
            </a:r>
          </a:p>
          <a:p>
            <a:r>
              <a:rPr sz="1100">
                <a:solidFill>
                  <a:srgbClr val="5A5A5A"/>
                </a:solidFill>
              </a:rPr>
              <a:t>Start all three in week 1 in parallel — they are the only items that cannot be compressed by working harder.</a:t>
            </a:r>
          </a:p>
        </p:txBody>
      </p:sp>
      <p:sp>
        <p:nvSpPr>
          <p:cNvPr id="25" name="TextBox 24"/>
          <p:cNvSpPr txBox="1"/>
          <p:nvPr/>
        </p:nvSpPr>
        <p:spPr>
          <a:xfrm>
            <a:off x="11247120" y="6473952"/>
            <a:ext cx="731520" cy="228600"/>
          </a:xfrm>
          <a:prstGeom prst="rect">
            <a:avLst/>
          </a:prstGeom>
          <a:noFill/>
        </p:spPr>
        <p:txBody>
          <a:bodyPr wrap="square" lIns="0" rIns="0" tIns="0" bIns="0">
            <a:spAutoFit/>
          </a:bodyPr>
          <a:lstStyle/>
          <a:p>
            <a:pPr algn="r">
              <a:lnSpc>
                <a:spcPct val="100000"/>
              </a:lnSpc>
            </a:pPr>
            <a:r>
              <a:rPr sz="900" b="0">
                <a:solidFill>
                  <a:srgbClr val="5A5A5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332720" cy="914400"/>
          </a:xfrm>
          <a:prstGeom prst="rect">
            <a:avLst/>
          </a:prstGeom>
          <a:noFill/>
        </p:spPr>
        <p:txBody>
          <a:bodyPr wrap="square" lIns="0" rIns="0" tIns="0" bIns="0">
            <a:spAutoFit/>
          </a:bodyPr>
          <a:lstStyle/>
          <a:p>
            <a:pPr algn="l">
              <a:lnSpc>
                <a:spcPct val="100000"/>
              </a:lnSpc>
            </a:pPr>
            <a:r>
              <a:rPr sz="4400" b="1">
                <a:solidFill>
                  <a:srgbClr val="FFFFFF"/>
                </a:solidFill>
                <a:latin typeface="Calibri"/>
              </a:rPr>
              <a:t>Thank you</a:t>
            </a:r>
          </a:p>
        </p:txBody>
      </p:sp>
      <p:sp>
        <p:nvSpPr>
          <p:cNvPr id="4" name="Rectangle 3"/>
          <p:cNvSpPr/>
          <p:nvPr/>
        </p:nvSpPr>
        <p:spPr>
          <a:xfrm>
            <a:off x="914400" y="3520440"/>
            <a:ext cx="2011680" cy="45720"/>
          </a:xfrm>
          <a:prstGeom prst="rect">
            <a:avLst/>
          </a:prstGeom>
          <a:solidFill>
            <a:srgbClr val="11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840480"/>
            <a:ext cx="10332720" cy="1097280"/>
          </a:xfrm>
          <a:prstGeom prst="rect">
            <a:avLst/>
          </a:prstGeom>
          <a:noFill/>
        </p:spPr>
        <p:txBody>
          <a:bodyPr wrap="square" lIns="0" rIns="0" tIns="0" bIns="0">
            <a:spAutoFit/>
          </a:bodyPr>
          <a:lstStyle/>
          <a:p>
            <a:pPr algn="l">
              <a:lnSpc>
                <a:spcPct val="130000"/>
              </a:lnSpc>
            </a:pPr>
            <a:r>
              <a:rPr sz="1500" b="0">
                <a:solidFill>
                  <a:srgbClr val="C8D8EC"/>
                </a:solidFill>
                <a:latin typeface="Calibri"/>
              </a:rPr>
              <a:t>Two things worth repeating:</a:t>
            </a:r>
          </a:p>
          <a:p>
            <a:pPr algn="l">
              <a:lnSpc>
                <a:spcPct val="130000"/>
              </a:lnSpc>
            </a:pPr>
            <a:r>
              <a:rPr sz="1500" b="0">
                <a:solidFill>
                  <a:srgbClr val="C8D8EC"/>
                </a:solidFill>
                <a:latin typeface="Calibri"/>
              </a:rPr>
              <a:t>every AI component you saw is live, and the compliance controls do not depend on the model behaving.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